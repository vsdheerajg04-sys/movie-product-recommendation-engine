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0"/>
            </a:avLst>
          </a:prstGeom>
          <a:solidFill>
            <a:srgbClr val="0F8791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0"/>
            <a:ext cx="54864" cy="6858000"/>
          </a:xfrm>
          <a:prstGeom prst="roundRect">
            <a:avLst>
              <a:gd name="adj" fmla="val 0"/>
            </a:avLst>
          </a:prstGeom>
          <a:solidFill>
            <a:srgbClr val="E8675C"/>
          </a:solidFill>
          <a:ln w="10160">
            <a:solidFill>
              <a:srgbClr val="E86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DATA STRUCTURES &amp; ALGORITHMS  •  REVIEW —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658368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ans"/>
              </a:rPr>
              <a:t>MOVIE &amp; PRODUCT
RECOMMENDATION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612648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ED3DC"/>
                </a:solidFill>
                <a:latin typeface="Noto Sans"/>
              </a:rPr>
              <a:t>Algorithm-Driven Personalized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380744"/>
            <a:ext cx="996696" cy="55686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853945"/>
            <a:ext cx="960120" cy="3168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behavior signals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1810512"/>
            <a:ext cx="228600" cy="0"/>
          </a:xfrm>
          <a:prstGeom prst="line">
            <a:avLst/>
          </a:prstGeom>
          <a:ln w="31750">
            <a:solidFill>
              <a:srgbClr val="3DB8C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60" y="132588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DDEFF0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380744"/>
            <a:ext cx="996696" cy="55686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53945"/>
            <a:ext cx="960120" cy="3168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DSA pipeline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95560" y="1810512"/>
            <a:ext cx="228600" cy="0"/>
          </a:xfrm>
          <a:prstGeom prst="line">
            <a:avLst/>
          </a:prstGeom>
          <a:ln w="31750">
            <a:solidFill>
              <a:srgbClr val="3DB8C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469880" y="132588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FCEBD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3032" y="1380744"/>
            <a:ext cx="996696" cy="55686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19" y="1853945"/>
            <a:ext cx="960120" cy="3168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movies + 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65176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C344B"/>
          </a:solidFill>
          <a:ln w="10160">
            <a:solidFill>
              <a:srgbClr val="41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926080"/>
            <a:ext cx="34290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"/>
              </a:rPr>
              <a:t>USER SIGNALS   →   CANDIDATES   →   RANKED PICKS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94760"/>
            <a:ext cx="10927080" cy="2148840"/>
          </a:xfrm>
          <a:prstGeom prst="roundRect">
            <a:avLst>
              <a:gd name="adj" fmla="val 6000"/>
            </a:avLst>
          </a:prstGeom>
          <a:solidFill>
            <a:srgbClr val="1C344B"/>
          </a:solidFill>
          <a:ln w="10160">
            <a:solidFill>
              <a:srgbClr val="3D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0507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TEAM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480560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Sai Nath Reddy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448056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C4CF"/>
                </a:solidFill>
                <a:latin typeface="Noto Sans"/>
              </a:rPr>
              <a:t>2510030198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480560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Venkata Sai Dheeraj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48056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C4CF"/>
                </a:solidFill>
                <a:latin typeface="Noto Sans"/>
              </a:rPr>
              <a:t>2510030165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480560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N Rishikesh Reddy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288" y="448056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C4CF"/>
                </a:solidFill>
                <a:latin typeface="Noto Sans"/>
              </a:rPr>
              <a:t>2510030414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120640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K Abhilash Goud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512064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C4CF"/>
                </a:solidFill>
                <a:latin typeface="Noto Sans"/>
              </a:rPr>
              <a:t>2510030298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5120640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J Akhil Sagar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12064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C4CF"/>
                </a:solidFill>
                <a:latin typeface="Noto Sans"/>
              </a:rPr>
              <a:t>2510030412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630936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AB7C3"/>
                </a:solidFill>
                <a:latin typeface="Noto Sans"/>
              </a:rPr>
              <a:t>11-SLIDE TECHNICAL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Problem Statement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64008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8791"/>
                </a:solidFill>
                <a:latin typeface="Noto Sans"/>
              </a:rPr>
              <a:t>ONE PLATFORM. DIFFERENT USERS. DIFFERENT 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649224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2437"/>
                </a:solidFill>
                <a:latin typeface="Noto Sans"/>
              </a:rPr>
              <a:t>Generic recommendations ignore how each user searches, watches, buys and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94560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203703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Search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2194560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2203703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Watch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2776" y="2194560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203703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Purchase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6984" y="2194560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2203703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Ratings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70632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2779775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Browsing behavior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58568" y="2770632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2779775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Similar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22776" y="2770632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779775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Trending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6984" y="2770632"/>
            <a:ext cx="1481328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1848" y="2779775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Previous recommendations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097280"/>
            <a:ext cx="4160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35331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75C"/>
                </a:solidFill>
                <a:latin typeface="Noto Sans"/>
              </a:rPr>
              <a:t>CORE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1709928"/>
            <a:ext cx="35661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D3A"/>
                </a:solidFill>
                <a:latin typeface="Noto Sans"/>
              </a:rPr>
              <a:t>Design an efficient algorithmic system that transforms user behavior into recommendations that are: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2798064"/>
            <a:ext cx="1033271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1544" y="2807208"/>
            <a:ext cx="923543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PERSONALIZED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2798064"/>
            <a:ext cx="1033271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0264" y="2807208"/>
            <a:ext cx="923543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ACCURATE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19" y="2798064"/>
            <a:ext cx="1033271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8984" y="2807208"/>
            <a:ext cx="923543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EB546"/>
                </a:solidFill>
                <a:latin typeface="Noto Sans"/>
              </a:rPr>
              <a:t>FAST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5876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2437"/>
                </a:solidFill>
                <a:latin typeface="Noto Sans"/>
              </a:rPr>
              <a:t>COMPLETE DECISION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315968"/>
            <a:ext cx="2042769" cy="822960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370831"/>
            <a:ext cx="1896465" cy="7242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3A"/>
                </a:solidFill>
                <a:latin typeface="Noto Sans"/>
              </a:rPr>
              <a:t>USER
BEHAVIOR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37129" y="4727448"/>
            <a:ext cx="173736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838297" y="4315968"/>
            <a:ext cx="204276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11449" y="4370831"/>
            <a:ext cx="1896465" cy="7242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3A"/>
                </a:solidFill>
                <a:latin typeface="Noto Sans"/>
              </a:rPr>
              <a:t>DATA
PROCESSING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81067" y="4727448"/>
            <a:ext cx="173736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082235" y="4315968"/>
            <a:ext cx="2042769" cy="822960"/>
          </a:xfrm>
          <a:prstGeom prst="roundRect">
            <a:avLst>
              <a:gd name="adj" fmla="val 6000"/>
            </a:avLst>
          </a:prstGeom>
          <a:solidFill>
            <a:srgbClr val="E1F1F2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55387" y="4370831"/>
            <a:ext cx="1896465" cy="7242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3A"/>
                </a:solidFill>
                <a:latin typeface="Noto Sans"/>
              </a:rPr>
              <a:t>DSA
ALGORITHMS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25004" y="4727448"/>
            <a:ext cx="173736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326172" y="4315968"/>
            <a:ext cx="204276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9324" y="4370831"/>
            <a:ext cx="1896465" cy="7242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3A"/>
                </a:solidFill>
                <a:latin typeface="Noto Sans"/>
              </a:rPr>
              <a:t>RECOMMENDATION
SCORE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368942" y="4727448"/>
            <a:ext cx="173736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570110" y="4315968"/>
            <a:ext cx="2042769" cy="822960"/>
          </a:xfrm>
          <a:prstGeom prst="roundRect">
            <a:avLst>
              <a:gd name="adj" fmla="val 6000"/>
            </a:avLst>
          </a:prstGeom>
          <a:solidFill>
            <a:srgbClr val="FCEBD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3262" y="4370831"/>
            <a:ext cx="1896465" cy="7242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3A"/>
                </a:solidFill>
                <a:latin typeface="Noto Sans"/>
              </a:rPr>
              <a:t>PERSONALIZED
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22976"/>
            <a:ext cx="11018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E7C"/>
                </a:solidFill>
                <a:latin typeface="Noto Sans"/>
              </a:rPr>
              <a:t>Goal: improve relevance without sacrificing lookup and processing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Existing Approaches &amp; Research Gap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288036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5331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8791"/>
                </a:solidFill>
                <a:latin typeface="Noto Sans"/>
              </a:rPr>
              <a:t>EXISTING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773936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Collaborative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020824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learns from similar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60320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487168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Content-Based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34056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matches item attributes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273552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00400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Hybrid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447288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combines multiple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86783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913631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60520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models complex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700016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626864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Preference Modeling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873752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builds user profiles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9312" y="1097280"/>
            <a:ext cx="2788920" cy="4983480"/>
          </a:xfrm>
          <a:prstGeom prst="roundRect">
            <a:avLst>
              <a:gd name="adj" fmla="val 6000"/>
            </a:avLst>
          </a:prstGeom>
          <a:solidFill>
            <a:srgbClr val="FCF8F2"/>
          </a:solidFill>
          <a:ln w="10160">
            <a:solidFill>
              <a:srgbClr val="F0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1353312"/>
            <a:ext cx="2286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75C"/>
                </a:solidFill>
                <a:latin typeface="Noto Sans"/>
              </a:rPr>
              <a:t>RESEARCH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1810512"/>
            <a:ext cx="2286000" cy="30632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D3A"/>
                </a:solidFill>
                <a:latin typeface="Noto Sans"/>
              </a:defRPr>
            </a:pPr>
            <a:r>
              <a:t>•  Better search matching</a:t>
            </a:r>
          </a:p>
          <a:p>
            <a:pPr>
              <a:spcAft>
                <a:spcPts val="1000"/>
              </a:spcAft>
              <a:defRPr sz="1300">
                <a:solidFill>
                  <a:srgbClr val="1E2D3A"/>
                </a:solidFill>
                <a:latin typeface="Noto Sans"/>
              </a:defRPr>
            </a:pPr>
            <a:r>
              <a:t>•  Spelling correction</a:t>
            </a:r>
          </a:p>
          <a:p>
            <a:pPr>
              <a:spcAft>
                <a:spcPts val="1000"/>
              </a:spcAft>
              <a:defRPr sz="1300">
                <a:solidFill>
                  <a:srgbClr val="1E2D3A"/>
                </a:solidFill>
                <a:latin typeface="Noto Sans"/>
              </a:defRPr>
            </a:pPr>
            <a:r>
              <a:t>•  Fast data lookup</a:t>
            </a:r>
          </a:p>
          <a:p>
            <a:pPr>
              <a:spcAft>
                <a:spcPts val="1000"/>
              </a:spcAft>
              <a:defRPr sz="1300">
                <a:solidFill>
                  <a:srgbClr val="1E2D3A"/>
                </a:solidFill>
                <a:latin typeface="Noto Sans"/>
              </a:defRPr>
            </a:pPr>
            <a:r>
              <a:t>•  Efficient candidate selection</a:t>
            </a:r>
          </a:p>
          <a:p>
            <a:pPr>
              <a:spcAft>
                <a:spcPts val="1000"/>
              </a:spcAft>
              <a:defRPr sz="1300">
                <a:solidFill>
                  <a:srgbClr val="1E2D3A"/>
                </a:solidFill>
                <a:latin typeface="Noto Sans"/>
              </a:defRPr>
            </a:pPr>
            <a:r>
              <a:t>•  Faster recommendation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D3A"/>
                </a:solidFill>
                <a:latin typeface="Noto Sans"/>
              </a:defRPr>
            </a:pPr>
            <a:r>
              <a:t>•  Personalized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166360"/>
            <a:ext cx="22402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75C"/>
                </a:solidFill>
                <a:latin typeface="Noto Sans"/>
              </a:rPr>
              <a:t>Need: one coherent pipeline, not isolated techniques.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7688" y="1097280"/>
            <a:ext cx="498348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353312"/>
            <a:ext cx="4389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8791"/>
                </a:solidFill>
                <a:latin typeface="Noto Sans"/>
              </a:rPr>
              <a:t>PROPOSED DSA INTEGRATION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876288" y="1783080"/>
          <a:ext cx="44805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60604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DSA TECHNIQUE</a:t>
                      </a:r>
                    </a:p>
                  </a:txBody>
                  <a:tcPr>
                    <a:solidFill>
                      <a:srgbClr val="1224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243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String Similarity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Compare titles and queries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Edit Distance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Correct spelling mistakes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Hashing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Fast lookup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Randomized Algorithms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Efficient candidate selection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Parallel Processing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Faster computation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876288" y="5193792"/>
            <a:ext cx="4480560" cy="493776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294376"/>
            <a:ext cx="4133087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8791"/>
                </a:solidFill>
                <a:latin typeface="Noto Sans"/>
              </a:rPr>
              <a:t>NOVELTY = integrated 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Proposed Solution &amp; 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5900" y="1069848"/>
            <a:ext cx="5074920" cy="566928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9052" y="1124712"/>
            <a:ext cx="4928616" cy="3288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7340" y="1381658"/>
            <a:ext cx="4892040" cy="1870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queries + interactions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1636776"/>
            <a:ext cx="0" cy="192024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1865376"/>
            <a:ext cx="66751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920240"/>
            <a:ext cx="6528816" cy="3288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USER BEHAVIOR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77186"/>
            <a:ext cx="6492240" cy="1870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search • watch • purchase • ratings • browsing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432304"/>
            <a:ext cx="0" cy="192024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485900" y="2660904"/>
            <a:ext cx="50749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9052" y="2715768"/>
            <a:ext cx="4928616" cy="3288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DATA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7340" y="2972714"/>
            <a:ext cx="4892040" cy="1870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clean • normalize • structure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3227832"/>
            <a:ext cx="0" cy="192024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3456432"/>
            <a:ext cx="66751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511296"/>
            <a:ext cx="6528816" cy="3288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DSA ALGORITHM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68242"/>
            <a:ext cx="6492240" cy="1870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similarity • edit distance • hashing • randomized • parallel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4023359"/>
            <a:ext cx="0" cy="192024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485900" y="4251960"/>
            <a:ext cx="50749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9052" y="4306824"/>
            <a:ext cx="4928616" cy="3288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RECOMMENDATION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7340" y="4563770"/>
            <a:ext cx="4892040" cy="1870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candidate generation + scoring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4818888"/>
            <a:ext cx="0" cy="192024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85900" y="5047488"/>
            <a:ext cx="5074920" cy="566928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9052" y="5102351"/>
            <a:ext cx="4928616" cy="3288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SCORE → RANK → PERSONALIZE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7340" y="5359298"/>
            <a:ext cx="4892040" cy="1870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7C"/>
                </a:solidFill>
                <a:latin typeface="Noto Sans"/>
              </a:rPr>
              <a:t>movies + products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1069848"/>
            <a:ext cx="3794760" cy="4846320"/>
          </a:xfrm>
          <a:prstGeom prst="roundRect">
            <a:avLst>
              <a:gd name="adj" fmla="val 600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1389888"/>
            <a:ext cx="31546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INTEGRATION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1801368"/>
            <a:ext cx="3063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"/>
              </a:rPr>
              <a:t>Each technique solves a specific bottleneck.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706624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660904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"/>
              </a:rPr>
              <a:t>MATCH intent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22783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182112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"/>
              </a:rPr>
              <a:t>RETRIEVE quickly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749039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703320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"/>
              </a:rPr>
              <a:t>REDUCE candidates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7024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224528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"/>
              </a:rPr>
              <a:t>PROCESS concurrently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791456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745736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"/>
              </a:rPr>
              <a:t>RANK personally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358384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CD2DB"/>
                </a:solidFill>
                <a:latin typeface="Noto Sans"/>
              </a:rPr>
              <a:t>The output is produced by the combined pipeline—not by any single algorithm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System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9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User 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7128" y="1531620"/>
            <a:ext cx="210312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1448" y="1234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89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Collect User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14215" y="1531620"/>
            <a:ext cx="210313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8536" y="1234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89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Analyze User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61304" y="1531620"/>
            <a:ext cx="210312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5624" y="1234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289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String Similarity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08392" y="1531620"/>
            <a:ext cx="210312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82712" y="1234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1289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Edit Distance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5480" y="1531620"/>
            <a:ext cx="210312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1234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2" y="1289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Hashing &amp; User Similarity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16184" y="1828800"/>
            <a:ext cx="0" cy="338328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2377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2432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Generate Candidates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582912" y="2674620"/>
            <a:ext cx="22860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82712" y="2377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864" y="2432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Randomized Selection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735824" y="2674620"/>
            <a:ext cx="22860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35624" y="2377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2432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Parallel Processing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888736" y="2674620"/>
            <a:ext cx="22860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88536" y="2377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2432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Recommendation Score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4041648" y="2674620"/>
            <a:ext cx="22860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441448" y="2377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2432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Rank Recommendations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194560" y="2674620"/>
            <a:ext cx="22860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4360" y="2377440"/>
            <a:ext cx="1572768" cy="594360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2432304"/>
            <a:ext cx="1426464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437"/>
                </a:solidFill>
                <a:latin typeface="Noto Sans"/>
              </a:rPr>
              <a:t>Display Results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4476" y="2999232"/>
            <a:ext cx="0" cy="402336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28800" y="3657600"/>
            <a:ext cx="3977639" cy="62179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01952" y="3712463"/>
            <a:ext cx="3831335" cy="3606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437"/>
                </a:solidFill>
                <a:latin typeface="Noto Sans"/>
              </a:rPr>
              <a:t>MOVIE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3999585"/>
            <a:ext cx="3794759" cy="20519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E7C"/>
                </a:solidFill>
                <a:latin typeface="Noto Sans"/>
              </a:rPr>
              <a:t>Similar Movies  •  Recommended Movies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2512" y="3657600"/>
            <a:ext cx="3977639" cy="621792"/>
          </a:xfrm>
          <a:prstGeom prst="roundRect">
            <a:avLst>
              <a:gd name="adj" fmla="val 6000"/>
            </a:avLst>
          </a:prstGeom>
          <a:solidFill>
            <a:srgbClr val="FCEEE5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3712463"/>
            <a:ext cx="3831335" cy="3606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437"/>
                </a:solidFill>
                <a:latin typeface="Noto Sans"/>
              </a:rPr>
              <a:t>PRODUCT RECOMMENDATIONS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999585"/>
            <a:ext cx="3794759" cy="20519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E7C"/>
                </a:solidFill>
                <a:latin typeface="Noto Sans"/>
              </a:rPr>
              <a:t>Similar Products  •  Recommended Products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3840480" y="3401568"/>
            <a:ext cx="2253996" cy="256032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94476" y="3401568"/>
            <a:ext cx="2272284" cy="256032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325880" y="4773168"/>
            <a:ext cx="9555480" cy="932688"/>
          </a:xfrm>
          <a:prstGeom prst="roundRect">
            <a:avLst>
              <a:gd name="adj" fmla="val 600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00200" y="4919472"/>
            <a:ext cx="14630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DB8C0"/>
                </a:solidFill>
                <a:latin typeface="Noto Sans"/>
              </a:rPr>
              <a:t>OUTPUT CONTRACT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1800" y="4882896"/>
            <a:ext cx="7543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"/>
              </a:rPr>
              <a:t>Search suggestions  •  similarity evidence  •  recommendation score  •  ranked personalized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DSA Algorithms &amp; Data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06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70432"/>
          <a:ext cx="7452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5029200"/>
              </a:tblGrid>
              <a:tr h="5657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ALGORITHM / TOPIC</a:t>
                      </a:r>
                    </a:p>
                  </a:txBody>
                  <a:tcPr>
                    <a:solidFill>
                      <a:srgbClr val="1224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HOW IT IS USED</a:t>
                      </a:r>
                    </a:p>
                  </a:txBody>
                  <a:tcPr>
                    <a:solidFill>
                      <a:srgbClr val="12243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String Similarity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Matches queries with movie/product titles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Edit Distance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Finds spelling differences and corrections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Hashing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Provides fast lookup of users and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Randomized Algorithms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Efficiently samples recommendation candidates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Parallel Processing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Processes independent tasks simultaneously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Recommendation Ranking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Orders items by recommendation score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User Similarity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Finds users with similar interests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02752" y="1170432"/>
            <a:ext cx="3291840" cy="4526280"/>
          </a:xfrm>
          <a:prstGeom prst="roundRect">
            <a:avLst>
              <a:gd name="adj" fmla="val 600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44752"/>
            <a:ext cx="26974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RELEVANT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901952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1856231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User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77440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2331720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Movie / product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52928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80720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Search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328416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3282696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Ratings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803904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3758183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Watch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79392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4233672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Purchase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754880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675C"/>
                </a:solidFill>
                <a:latin typeface="Noto San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4709160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Recommendation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230368"/>
            <a:ext cx="22860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4BFCA"/>
                </a:solidFill>
                <a:latin typeface="Noto Sans"/>
              </a:rPr>
              <a:t>DATA STRUCTURE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468112"/>
            <a:ext cx="25146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Noto Sans"/>
              </a:rPr>
              <a:t>hash maps • arrays • ranked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Core Algorithm Implementation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15568"/>
            <a:ext cx="2011680" cy="3090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115568"/>
            <a:ext cx="2011680" cy="502920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1978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179576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"/>
              </a:rPr>
              <a:t>STRING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1682496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3A"/>
                </a:solidFill>
                <a:latin typeface="Noto Sans"/>
              </a:rPr>
              <a:t>Compare queries with titles to retrieve related items.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682496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10712"/>
            <a:ext cx="15727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Intent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1115568"/>
            <a:ext cx="2011680" cy="3090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6352" y="1115568"/>
            <a:ext cx="2011680" cy="502920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11978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1179576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"/>
              </a:rPr>
              <a:t>EDIT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1874519"/>
            <a:ext cx="1682496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3A"/>
                </a:solidFill>
                <a:latin typeface="Noto Sans"/>
              </a:rPr>
              <a:t>Minimum insertions, deletions and substitutions.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80944" y="3401568"/>
            <a:ext cx="1682496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3410712"/>
            <a:ext cx="15727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Spell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862072"/>
            <a:ext cx="16002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D6E7C"/>
                </a:solidFill>
                <a:latin typeface="Noto Sans Mono"/>
              </a:rPr>
              <a:t>d[i,j] = min
(del, ins, sub)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4" y="1115568"/>
            <a:ext cx="2011680" cy="3090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38344" y="1115568"/>
            <a:ext cx="2011680" cy="502920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11978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1179576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"/>
              </a:rPr>
              <a:t>HASHING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1874519"/>
            <a:ext cx="1682496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3A"/>
                </a:solidFill>
                <a:latin typeface="Noto Sans"/>
              </a:rPr>
              <a:t>Retrieve users, items and processed state quickly.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02936" y="3401568"/>
            <a:ext cx="1682496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3410712"/>
            <a:ext cx="15727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Fast lookup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0336" y="1115568"/>
            <a:ext cx="2011680" cy="3090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0336" y="1115568"/>
            <a:ext cx="2011680" cy="502920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11978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6" y="1179576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"/>
              </a:rPr>
              <a:t>RANDOMIZED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8" y="1874519"/>
            <a:ext cx="1682496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3A"/>
                </a:solidFill>
                <a:latin typeface="Noto Sans"/>
              </a:rPr>
              <a:t>Sample candidates before expensive scoring.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24928" y="3401568"/>
            <a:ext cx="1682496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3410712"/>
            <a:ext cx="15727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Reduce workload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82328" y="1115568"/>
            <a:ext cx="2011680" cy="3090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82328" y="1115568"/>
            <a:ext cx="2011680" cy="502920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92056" y="11978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75C"/>
                </a:solidFill>
                <a:latin typeface="Noto San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179576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"/>
              </a:rPr>
              <a:t>PARALLEL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1874519"/>
            <a:ext cx="1682496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3A"/>
                </a:solidFill>
                <a:latin typeface="Noto Sans"/>
              </a:rPr>
              <a:t>Run independent recommendation tasks concurrently.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3401568"/>
            <a:ext cx="1682496" cy="310896"/>
          </a:xfrm>
          <a:prstGeom prst="roundRect">
            <a:avLst>
              <a:gd name="adj" fmla="val 1500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3410712"/>
            <a:ext cx="15727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Lower wall-clock time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34440" y="4800600"/>
            <a:ext cx="2242566" cy="658368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07592" y="4855464"/>
            <a:ext cx="2096262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3A"/>
                </a:solidFill>
                <a:latin typeface="Noto Sans"/>
              </a:rPr>
              <a:t>INPUT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477006" y="5129784"/>
            <a:ext cx="228599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733037" y="4800600"/>
            <a:ext cx="224256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06189" y="4855464"/>
            <a:ext cx="2096262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3A"/>
                </a:solidFill>
                <a:latin typeface="Noto Sans"/>
              </a:rPr>
              <a:t>ALGORITHMS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75604" y="5129784"/>
            <a:ext cx="228599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231636" y="4800600"/>
            <a:ext cx="2242566" cy="658368"/>
          </a:xfrm>
          <a:prstGeom prst="roundRect">
            <a:avLst>
              <a:gd name="adj" fmla="val 6000"/>
            </a:avLst>
          </a:prstGeom>
          <a:solidFill>
            <a:srgbClr val="FCEEE5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4788" y="4855464"/>
            <a:ext cx="2096262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3A"/>
                </a:solidFill>
                <a:latin typeface="Noto Sans"/>
              </a:rPr>
              <a:t>CANDIDATE SET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74202" y="5129784"/>
            <a:ext cx="22860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730234" y="4800600"/>
            <a:ext cx="2242566" cy="658368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03386" y="4855464"/>
            <a:ext cx="2096262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3A"/>
                </a:solidFill>
                <a:latin typeface="Noto Sans"/>
              </a:rPr>
              <a:t>RECOMMENDATION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Recommendation Score, Ranking &amp; Similarity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07008"/>
            <a:ext cx="1699260" cy="658368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61872"/>
            <a:ext cx="1552956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3A"/>
                </a:solidFill>
                <a:latin typeface="Noto Sans"/>
              </a:rPr>
              <a:t>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93620" y="1536192"/>
            <a:ext cx="13716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58212" y="1207008"/>
            <a:ext cx="16992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1364" y="1261872"/>
            <a:ext cx="1552956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3A"/>
                </a:solidFill>
                <a:latin typeface="Noto Sans"/>
              </a:rPr>
              <a:t>SIMILARITY
ANALYSIS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57472" y="1536192"/>
            <a:ext cx="13716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22064" y="1207008"/>
            <a:ext cx="16992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6" y="1261872"/>
            <a:ext cx="1552956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3A"/>
                </a:solidFill>
                <a:latin typeface="Noto Sans"/>
              </a:rPr>
              <a:t>CANDIDATE
ITEMS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1324" y="1536192"/>
            <a:ext cx="13716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5916" y="1207008"/>
            <a:ext cx="1699260" cy="658368"/>
          </a:xfrm>
          <a:prstGeom prst="roundRect">
            <a:avLst>
              <a:gd name="adj" fmla="val 6000"/>
            </a:avLst>
          </a:prstGeom>
          <a:solidFill>
            <a:srgbClr val="FCEEE5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9068" y="1261872"/>
            <a:ext cx="1552956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3A"/>
                </a:solidFill>
                <a:latin typeface="Noto Sans"/>
              </a:rPr>
              <a:t>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85176" y="1536192"/>
            <a:ext cx="13716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9768" y="1207008"/>
            <a:ext cx="16992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2920" y="1261872"/>
            <a:ext cx="1552956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3A"/>
                </a:solidFill>
                <a:latin typeface="Noto Sans"/>
              </a:rPr>
              <a:t>RANKING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49028" y="1536192"/>
            <a:ext cx="137160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13620" y="1207008"/>
            <a:ext cx="1699260" cy="658368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6772" y="1261872"/>
            <a:ext cx="1552956" cy="57936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D3A"/>
                </a:solidFill>
                <a:latin typeface="Noto Sans"/>
              </a:rPr>
              <a:t>RECOMMENDATION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267712"/>
            <a:ext cx="3886200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542032"/>
            <a:ext cx="32918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8791"/>
                </a:solidFill>
                <a:latin typeface="Noto Sans"/>
              </a:rPr>
              <a:t>RECOMMENDATION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889504"/>
            <a:ext cx="31546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437"/>
                </a:solidFill>
                <a:latin typeface="Noto Sans"/>
              </a:rPr>
              <a:t>Each candidate receives a weighted score from available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657600"/>
            <a:ext cx="2697480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3666744"/>
            <a:ext cx="258775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User ratings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023360"/>
            <a:ext cx="2697480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4032504"/>
            <a:ext cx="258775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Previous interactions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389120"/>
            <a:ext cx="2697480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4398264"/>
            <a:ext cx="258775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Search behavior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754880"/>
            <a:ext cx="2697480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4764024"/>
            <a:ext cx="258775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Item similarity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120640"/>
            <a:ext cx="2697480" cy="310896"/>
          </a:xfrm>
          <a:prstGeom prst="roundRect">
            <a:avLst>
              <a:gd name="adj" fmla="val 1500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5129783"/>
            <a:ext cx="258775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Similar user preferences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2267712"/>
            <a:ext cx="2907792" cy="3401568"/>
          </a:xfrm>
          <a:prstGeom prst="roundRect">
            <a:avLst>
              <a:gd name="adj" fmla="val 600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1768" y="2542032"/>
            <a:ext cx="23317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RANKING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3127248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"/>
              </a:rPr>
              <a:t>HIGHER SCORE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63056" y="3566160"/>
            <a:ext cx="0" cy="585216"/>
          </a:xfrm>
          <a:prstGeom prst="line">
            <a:avLst/>
          </a:prstGeom>
          <a:ln w="38100">
            <a:solidFill>
              <a:srgbClr val="E867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01768" y="4315968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"/>
              </a:rPr>
              <a:t>HIGHER RANK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6632" y="4956048"/>
            <a:ext cx="221284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D3DC"/>
                </a:solidFill>
                <a:latin typeface="Noto Sans"/>
              </a:rPr>
              <a:t>Sort the candidate set by calculated recommendation score.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5552" y="2267712"/>
            <a:ext cx="3767328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2542032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75C"/>
                </a:solidFill>
                <a:latin typeface="Noto Sans"/>
              </a:rPr>
              <a:t>SIMILARITY 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3063240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USER SIMILARITY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6499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E7C"/>
                </a:solidFill>
                <a:latin typeface="Noto Sans"/>
              </a:rPr>
              <a:t>Preferences from users with related interests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2" y="4206240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437"/>
                </a:solidFill>
                <a:latin typeface="Noto Sans"/>
              </a:rPr>
              <a:t>SIMILAR ITEMS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450799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E7C"/>
                </a:solidFill>
                <a:latin typeface="Noto Sans"/>
              </a:rPr>
              <a:t>Items related to viewed, purchased, searched or rated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Novelty, Complexity &amp; Adaptability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15568"/>
            <a:ext cx="1722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70432"/>
            <a:ext cx="1575816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D3A"/>
                </a:solidFill>
                <a:latin typeface="Noto Sans"/>
              </a:rPr>
              <a:t>String
Similarity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16480" y="1412748"/>
            <a:ext cx="109728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53640" y="1115568"/>
            <a:ext cx="1722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6792" y="1170432"/>
            <a:ext cx="1575816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D3A"/>
                </a:solidFill>
                <a:latin typeface="Noto Sans"/>
              </a:rPr>
              <a:t>Edit
Distance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5760" y="1412748"/>
            <a:ext cx="109728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12920" y="1115568"/>
            <a:ext cx="1722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6072" y="1170432"/>
            <a:ext cx="1575816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D3A"/>
                </a:solidFill>
                <a:latin typeface="Noto Sans"/>
              </a:rPr>
              <a:t>Hashing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1412748"/>
            <a:ext cx="109728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1115568"/>
            <a:ext cx="1722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170432"/>
            <a:ext cx="1575816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D3A"/>
                </a:solidFill>
                <a:latin typeface="Noto Sans"/>
              </a:rPr>
              <a:t>Randomized
Selection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94320" y="1412748"/>
            <a:ext cx="109728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31480" y="1115568"/>
            <a:ext cx="1722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4632" y="1170432"/>
            <a:ext cx="1575816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D3A"/>
                </a:solidFill>
                <a:latin typeface="Noto Sans"/>
              </a:rPr>
              <a:t>Parallel
Processing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53600" y="1412748"/>
            <a:ext cx="109728" cy="0"/>
          </a:xfrm>
          <a:prstGeom prst="line">
            <a:avLst/>
          </a:prstGeom>
          <a:ln w="1905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90760" y="1115568"/>
            <a:ext cx="1722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3912" y="1170432"/>
            <a:ext cx="1575816" cy="5230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D3A"/>
                </a:solidFill>
                <a:latin typeface="Noto Sans"/>
              </a:rPr>
              <a:t>Scoring &amp;
Ranking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4476" y="1783080"/>
            <a:ext cx="0" cy="301751"/>
          </a:xfrm>
          <a:prstGeom prst="line">
            <a:avLst/>
          </a:prstGeom>
          <a:ln w="25400">
            <a:solidFill>
              <a:srgbClr val="0F879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49039" y="2139696"/>
            <a:ext cx="4690872" cy="512064"/>
          </a:xfrm>
          <a:prstGeom prst="roundRect">
            <a:avLst>
              <a:gd name="adj" fmla="val 6000"/>
            </a:avLst>
          </a:prstGeom>
          <a:solidFill>
            <a:srgbClr val="E7F4F4"/>
          </a:solidFill>
          <a:ln w="10160">
            <a:solidFill>
              <a:srgbClr val="0F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2194560"/>
            <a:ext cx="4544568" cy="29699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437"/>
                </a:solidFill>
                <a:latin typeface="Noto Sans"/>
              </a:rPr>
              <a:t>UNIFIED RECOMMENDATION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79" y="2421331"/>
            <a:ext cx="4507992" cy="16898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E7C"/>
                </a:solidFill>
                <a:latin typeface="Noto Sans"/>
              </a:rPr>
              <a:t>Novelty lies in integration—not invention of common algorithms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94360" y="2944368"/>
          <a:ext cx="68122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262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224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COMPLEXITY / CONSIDERATION</a:t>
                      </a:r>
                    </a:p>
                  </a:txBody>
                  <a:tcPr>
                    <a:solidFill>
                      <a:srgbClr val="1224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Edit Distance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O(m × 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Hashing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O(1) average lookup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Comparison Ranking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O(n log 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String Matching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Depends on matching method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Randomized Selection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Depends on sampling strategy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Parallel Processing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D3A"/>
                          </a:solidFill>
                          <a:latin typeface="Noto Sans"/>
                        </a:defRPr>
                      </a:pPr>
                      <a:r>
                        <a:t>Reduces wall-clock time for concurrent tasks</a:t>
                      </a:r>
                    </a:p>
                  </a:txBody>
                  <a:tcPr marL="73152" marR="73152" marT="36576" marB="36576"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653527" y="2944368"/>
            <a:ext cx="3959352" cy="2688336"/>
          </a:xfrm>
          <a:prstGeom prst="roundRect">
            <a:avLst>
              <a:gd name="adj" fmla="val 600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992" y="3218688"/>
            <a:ext cx="3383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ADAPTABILITY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3703320"/>
            <a:ext cx="1371600" cy="310896"/>
          </a:xfrm>
          <a:prstGeom prst="roundRect">
            <a:avLst>
              <a:gd name="adj" fmla="val 15000"/>
            </a:avLst>
          </a:prstGeom>
          <a:solidFill>
            <a:srgbClr val="274157"/>
          </a:solidFill>
          <a:ln w="10160">
            <a:solidFill>
              <a:srgbClr val="27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1856" y="3712463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Entertainment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1472" y="3703320"/>
            <a:ext cx="1371600" cy="310896"/>
          </a:xfrm>
          <a:prstGeom prst="roundRect">
            <a:avLst>
              <a:gd name="adj" fmla="val 15000"/>
            </a:avLst>
          </a:prstGeom>
          <a:solidFill>
            <a:srgbClr val="274157"/>
          </a:solidFill>
          <a:ln w="10160">
            <a:solidFill>
              <a:srgbClr val="27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46336" y="3712463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E-Commerce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36992" y="4206240"/>
            <a:ext cx="1371600" cy="310896"/>
          </a:xfrm>
          <a:prstGeom prst="roundRect">
            <a:avLst>
              <a:gd name="adj" fmla="val 15000"/>
            </a:avLst>
          </a:prstGeom>
          <a:solidFill>
            <a:srgbClr val="274157"/>
          </a:solidFill>
          <a:ln w="10160">
            <a:solidFill>
              <a:srgbClr val="27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91856" y="4215383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Music Streaming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91472" y="4206240"/>
            <a:ext cx="1371600" cy="310896"/>
          </a:xfrm>
          <a:prstGeom prst="roundRect">
            <a:avLst>
              <a:gd name="adj" fmla="val 15000"/>
            </a:avLst>
          </a:prstGeom>
          <a:solidFill>
            <a:srgbClr val="274157"/>
          </a:solidFill>
          <a:ln w="10160">
            <a:solidFill>
              <a:srgbClr val="27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46336" y="4215383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Online Learning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36992" y="4709160"/>
            <a:ext cx="1371600" cy="310896"/>
          </a:xfrm>
          <a:prstGeom prst="roundRect">
            <a:avLst>
              <a:gd name="adj" fmla="val 15000"/>
            </a:avLst>
          </a:prstGeom>
          <a:solidFill>
            <a:srgbClr val="274157"/>
          </a:solidFill>
          <a:ln w="10160">
            <a:solidFill>
              <a:srgbClr val="27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4718304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Digital Marketing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1472" y="4709160"/>
            <a:ext cx="1371600" cy="310896"/>
          </a:xfrm>
          <a:prstGeom prst="roundRect">
            <a:avLst>
              <a:gd name="adj" fmla="val 15000"/>
            </a:avLst>
          </a:prstGeom>
          <a:solidFill>
            <a:srgbClr val="274157"/>
          </a:solidFill>
          <a:ln w="10160">
            <a:solidFill>
              <a:srgbClr val="27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6" y="4718304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Business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8791"/>
                </a:solidFill>
                <a:latin typeface="Noto San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2437"/>
                </a:solidFill>
                <a:latin typeface="Noto Sans"/>
              </a:rPr>
              <a:t>Methodology Evaluation &amp; Demo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3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61320" y="2743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E7C"/>
                </a:solidFill>
                <a:latin typeface="Noto Sans"/>
              </a:rPr>
              <a:t>REVIEW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6E7C"/>
                </a:solidFill>
                <a:latin typeface="Noto Sans"/>
              </a:rP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15568"/>
            <a:ext cx="31089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53312"/>
            <a:ext cx="2651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8791"/>
                </a:solidFill>
                <a:latin typeface="Noto Sans"/>
              </a:rPr>
              <a:t>RECOMMENDATION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633472" cy="10972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Recommendation relevance</a:t>
            </a:r>
          </a:p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User similarity quality</a:t>
            </a:r>
          </a:p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Search suggestion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115568"/>
            <a:ext cx="310896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53312"/>
            <a:ext cx="2651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75C"/>
                </a:solidFill>
                <a:latin typeface="Noto San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37360"/>
            <a:ext cx="2633472" cy="10972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Search response time</a:t>
            </a:r>
          </a:p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Recommendation generation time</a:t>
            </a:r>
          </a:p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Lookup efficiency</a:t>
            </a:r>
          </a:p>
          <a:p>
            <a:pPr>
              <a:spcAft>
                <a:spcPts val="500"/>
              </a:spcAft>
              <a:defRPr sz="1100">
                <a:solidFill>
                  <a:srgbClr val="1E2D3A"/>
                </a:solidFill>
                <a:latin typeface="Noto Sans"/>
              </a:defRPr>
            </a:pPr>
            <a:r>
              <a:t>•  Parallel processing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15568"/>
            <a:ext cx="434340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353312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2437"/>
                </a:solidFill>
                <a:latin typeface="Noto Sans"/>
              </a:rPr>
              <a:t>MEASUREMENT PLACEHOLDERS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737360"/>
            <a:ext cx="14173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E7C"/>
                </a:solidFill>
                <a:latin typeface="Noto Sans"/>
              </a:rPr>
              <a:t>Processing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737360"/>
            <a:ext cx="2240280" cy="201168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737360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675C"/>
                </a:solidFill>
                <a:latin typeface="Noto Sans"/>
              </a:rPr>
              <a:t>[Insert measured execution time]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121408"/>
            <a:ext cx="14173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E7C"/>
                </a:solidFill>
                <a:latin typeface="Noto Sans"/>
              </a:rPr>
              <a:t>Recommendation relevance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2121408"/>
            <a:ext cx="2240280" cy="201168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121408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675C"/>
                </a:solidFill>
                <a:latin typeface="Noto Sans"/>
              </a:rPr>
              <a:t>[Insert measured relevance result]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505456"/>
            <a:ext cx="14173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E7C"/>
                </a:solidFill>
                <a:latin typeface="Noto Sans"/>
              </a:rPr>
              <a:t>Search 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2505456"/>
            <a:ext cx="2240280" cy="201168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505456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675C"/>
                </a:solidFill>
                <a:latin typeface="Noto Sans"/>
              </a:rPr>
              <a:t>[Insert measured response time]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56432"/>
            <a:ext cx="253288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3456432"/>
            <a:ext cx="2532888" cy="347472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520440"/>
            <a:ext cx="231343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SEARCH SUGGESTIONS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14215"/>
            <a:ext cx="1508760" cy="210312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343400"/>
            <a:ext cx="210312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4608576"/>
            <a:ext cx="178308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1032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Query → corrected title
Similarity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3456432"/>
            <a:ext cx="253288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55848" y="3456432"/>
            <a:ext cx="2532888" cy="347472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65576" y="3520440"/>
            <a:ext cx="231343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MOVIE RECOMMENDATIONS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38728" y="4014215"/>
            <a:ext cx="1508760" cy="210312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38728" y="4343400"/>
            <a:ext cx="210312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38728" y="4608576"/>
            <a:ext cx="178308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8" y="491032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Similar + recommended
Score and rank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17336" y="3456432"/>
            <a:ext cx="253288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17336" y="3456432"/>
            <a:ext cx="2532888" cy="347472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7064" y="3520440"/>
            <a:ext cx="231343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PRODUCT RECOMMENDATIONS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4014215"/>
            <a:ext cx="1508760" cy="210312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0216" y="4343400"/>
            <a:ext cx="210312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0216" y="4608576"/>
            <a:ext cx="178308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216" y="491032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Similar + recommended
Score and rank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78824" y="3456432"/>
            <a:ext cx="253288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3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78824" y="3456432"/>
            <a:ext cx="2532888" cy="347472"/>
          </a:xfrm>
          <a:prstGeom prst="roundRect">
            <a:avLst>
              <a:gd name="adj" fmla="val 0"/>
            </a:avLst>
          </a:prstGeom>
          <a:solidFill>
            <a:srgbClr val="122437"/>
          </a:solidFill>
          <a:ln w="10160">
            <a:solidFill>
              <a:srgbClr val="12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2" y="3520440"/>
            <a:ext cx="231343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USER SIMILARITY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61704" y="4014215"/>
            <a:ext cx="1508760" cy="210312"/>
          </a:xfrm>
          <a:prstGeom prst="roundRect">
            <a:avLst>
              <a:gd name="adj" fmla="val 0"/>
            </a:avLst>
          </a:prstGeom>
          <a:solidFill>
            <a:srgbClr val="EFF3F6"/>
          </a:solidFill>
          <a:ln w="10160">
            <a:solidFill>
              <a:srgbClr val="EF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61704" y="4343400"/>
            <a:ext cx="210312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61704" y="4608576"/>
            <a:ext cx="1783080" cy="155448"/>
          </a:xfrm>
          <a:prstGeom prst="roundRect">
            <a:avLst>
              <a:gd name="adj" fmla="val 0"/>
            </a:avLst>
          </a:prstGeom>
          <a:solidFill>
            <a:srgbClr val="E7F4F4"/>
          </a:solidFill>
          <a:ln w="10160">
            <a:solidFill>
              <a:srgbClr val="E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61704" y="491032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E7C"/>
                </a:solidFill>
                <a:latin typeface="Noto Sans"/>
              </a:rPr>
              <a:t>Related user profile
Preference overlap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687568"/>
            <a:ext cx="11018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75C"/>
                </a:solidFill>
                <a:latin typeface="Noto Sans"/>
              </a:rPr>
              <a:t>Demo frames are intentional placeholders until project screenshots and measured results are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B8C0"/>
                </a:solidFill>
                <a:latin typeface="Noto San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9184"/>
            <a:ext cx="64008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4BECA"/>
                </a:solidFill>
                <a:latin typeface="Noto Sans"/>
              </a:rPr>
              <a:t>REVIEW —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3F53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115568"/>
            <a:ext cx="5257800" cy="4315968"/>
          </a:xfrm>
          <a:prstGeom prst="roundRect">
            <a:avLst>
              <a:gd name="adj" fmla="val 6000"/>
            </a:avLst>
          </a:prstGeom>
          <a:solidFill>
            <a:srgbClr val="1C344B"/>
          </a:solidFill>
          <a:ln w="10160">
            <a:solidFill>
              <a:srgbClr val="415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B8C0"/>
                </a:solidFill>
                <a:latin typeface="Noto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92224"/>
            <a:ext cx="4526280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"/>
              </a:rPr>
              <a:t>A unified DSA methodology converts behavior signals into fast, ranked and personalized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52928"/>
            <a:ext cx="1298448" cy="310896"/>
          </a:xfrm>
          <a:prstGeom prst="roundRect">
            <a:avLst>
              <a:gd name="adj" fmla="val 15000"/>
            </a:avLst>
          </a:prstGeom>
          <a:solidFill>
            <a:srgbClr val="29455B"/>
          </a:solidFill>
          <a:ln w="10160">
            <a:solidFill>
              <a:srgbClr val="29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862072"/>
            <a:ext cx="11887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String 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95144" y="2852928"/>
            <a:ext cx="1143000" cy="310896"/>
          </a:xfrm>
          <a:prstGeom prst="roundRect">
            <a:avLst>
              <a:gd name="adj" fmla="val 15000"/>
            </a:avLst>
          </a:prstGeom>
          <a:solidFill>
            <a:srgbClr val="29455B"/>
          </a:solidFill>
          <a:ln w="10160">
            <a:solidFill>
              <a:srgbClr val="29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2862072"/>
            <a:ext cx="103327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Edit 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852928"/>
            <a:ext cx="822960" cy="310896"/>
          </a:xfrm>
          <a:prstGeom prst="roundRect">
            <a:avLst>
              <a:gd name="adj" fmla="val 15000"/>
            </a:avLst>
          </a:prstGeom>
          <a:solidFill>
            <a:srgbClr val="29455B"/>
          </a:solidFill>
          <a:ln w="10160">
            <a:solidFill>
              <a:srgbClr val="29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862072"/>
            <a:ext cx="7132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Hashing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852928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29455B"/>
          </a:solidFill>
          <a:ln w="10160">
            <a:solidFill>
              <a:srgbClr val="29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862072"/>
            <a:ext cx="94183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Randomized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401568"/>
            <a:ext cx="4389120" cy="1664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Noto Sans"/>
              </a:defRPr>
            </a:pPr>
            <a:r>
              <a:t>•  Personalized recommendations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Noto Sans"/>
              </a:defRPr>
            </a:pPr>
            <a:r>
              <a:t>•  Recommendation scoring + ranking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Noto Sans"/>
              </a:defRPr>
            </a:pPr>
            <a:r>
              <a:t>•  Similar movies / products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Noto Sans"/>
              </a:defRPr>
            </a:pPr>
            <a:r>
              <a:t>•  User similarity analysis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Noto Sans"/>
              </a:defRPr>
            </a:pPr>
            <a:r>
              <a:t>•  Smart search suggestions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Noto Sans"/>
              </a:defRPr>
            </a:pPr>
            <a:r>
              <a:t>•  Fast recommendation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115568"/>
            <a:ext cx="5495544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17320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75C"/>
                </a:solidFill>
                <a:latin typeface="Noto Sans"/>
              </a:rPr>
              <a:t>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828800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Larger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874519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828800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Real-time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32887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2487168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Advanced ML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532887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487168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Mobile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91256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3145536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Cloud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191256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145536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Behavior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49624"/>
            <a:ext cx="34747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8791"/>
                </a:solidFill>
                <a:latin typeface="Noto San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1424" y="3803904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437"/>
                </a:solidFill>
                <a:latin typeface="Noto Sans"/>
              </a:rPr>
              <a:t>Improved personalization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669280"/>
            <a:ext cx="11000232" cy="612648"/>
          </a:xfrm>
          <a:prstGeom prst="roundRect">
            <a:avLst>
              <a:gd name="adj" fmla="val 0"/>
            </a:avLst>
          </a:prstGeom>
          <a:solidFill>
            <a:srgbClr val="0D767E"/>
          </a:solidFill>
          <a:ln w="10160">
            <a:solidFill>
              <a:srgbClr val="0D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824728"/>
            <a:ext cx="14173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PROJECT REPOSITORY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769864"/>
            <a:ext cx="61264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oto Sans Mono"/>
              </a:rPr>
              <a:t>github.com/vsdheerajg04-sys/Movie-product-Recommendation-Engine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815584"/>
            <a:ext cx="29718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"/>
              </a:rPr>
              <a:t>EFFICIENT  •  PERSONALIZED  •  FAST  •  SCALABLE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5B2BF"/>
                </a:solidFill>
                <a:latin typeface="Noto Sans"/>
              </a:rPr>
              <a:t>MOVIE &amp; PRODUCT RECOMMENDATION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519672"/>
            <a:ext cx="71323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5B2BF"/>
                </a:solidFill>
                <a:latin typeface="Noto San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&amp; Product Recommendation Engine — Review 3</dc:title>
  <dc:subject>DSA project technical review presentation</dc:subject>
  <dc:creator>Sai Nath Reddy; Venkata Sai Dheeraj G; N Rishikesh Reddy; K Abhilash Goud; J Akhil Sagar</dc:creator>
  <cp:keywords>DSA, recommendation engine, string similarity, edit distance, hashing, randomized algorithms, parallel processing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