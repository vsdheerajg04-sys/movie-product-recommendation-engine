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6035040" y="0"/>
            <a:ext cx="6156655" cy="4297680"/>
          </a:xfrm>
          <a:prstGeom prst="rect">
            <a:avLst/>
          </a:prstGeom>
        </p:spPr>
      </p:pic>
      <p:sp>
        <p:nvSpPr>
          <p:cNvPr id="3" name="Shape 0"/>
          <p:cNvSpPr/>
          <p:nvPr/>
        </p:nvSpPr>
        <p:spPr>
          <a:xfrm>
            <a:off x="640080" y="1051560"/>
            <a:ext cx="1371600" cy="82296"/>
          </a:xfrm>
          <a:prstGeom prst="rect">
            <a:avLst/>
          </a:prstGeom>
          <a:solidFill>
            <a:srgbClr val="FF6B4A"/>
          </a:solidFill>
        </p:spPr>
      </p:sp>
      <p:sp>
        <p:nvSpPr>
          <p:cNvPr id="4" name="Text 1"/>
          <p:cNvSpPr/>
          <p:nvPr/>
        </p:nvSpPr>
        <p:spPr>
          <a:xfrm>
            <a:off x="640080" y="1280160"/>
            <a:ext cx="5669280" cy="822960"/>
          </a:xfrm>
          <a:prstGeom prst="rect">
            <a:avLst/>
          </a:prstGeom>
          <a:noFill/>
        </p:spPr>
        <p:txBody>
          <a:bodyPr wrap="square" rtlCol="0" anchor="ctr"/>
          <a:lstStyle/>
          <a:p>
            <a:pPr marL="0" indent="0">
              <a:buNone/>
            </a:pPr>
            <a:r>
              <a:rPr lang="en-US" sz="4400" b="1" dirty="0">
                <a:solidFill>
                  <a:srgbClr val="FFFFFF"/>
                </a:solidFill>
                <a:latin typeface="Georgia" panose="02040502050405020303" pitchFamily="34" charset="0"/>
                <a:ea typeface="Georgia" panose="02040502050405020303" pitchFamily="34" charset="-122"/>
                <a:cs typeface="Georgia" panose="02040502050405020303" pitchFamily="34" charset="-120"/>
              </a:rPr>
              <a:t>MOVIE &amp; PRODUCT</a:t>
            </a:r>
            <a:endParaRPr lang="en-US" sz="4400" dirty="0"/>
          </a:p>
        </p:txBody>
      </p:sp>
      <p:sp>
        <p:nvSpPr>
          <p:cNvPr id="5" name="Text 2"/>
          <p:cNvSpPr/>
          <p:nvPr/>
        </p:nvSpPr>
        <p:spPr>
          <a:xfrm>
            <a:off x="658495" y="2359025"/>
            <a:ext cx="6400800" cy="1005840"/>
          </a:xfrm>
          <a:prstGeom prst="rect">
            <a:avLst/>
          </a:prstGeom>
          <a:noFill/>
        </p:spPr>
        <p:txBody>
          <a:bodyPr wrap="square" rtlCol="0" anchor="ctr"/>
          <a:lstStyle/>
          <a:p>
            <a:pPr marL="0" indent="0">
              <a:buNone/>
            </a:pPr>
            <a:r>
              <a:rPr lang="en-US" sz="4000" b="1" dirty="0">
                <a:solidFill>
                  <a:srgbClr val="FF6B4A"/>
                </a:solidFill>
                <a:latin typeface="Georgia" panose="02040502050405020303" pitchFamily="34" charset="0"/>
                <a:ea typeface="Georgia" panose="02040502050405020303" pitchFamily="34" charset="-122"/>
                <a:cs typeface="Georgia" panose="02040502050405020303" pitchFamily="34" charset="-120"/>
              </a:rPr>
              <a:t>RECOMMENDATION ENGINE</a:t>
            </a:r>
            <a:endParaRPr lang="en-US" sz="4000" dirty="0"/>
          </a:p>
        </p:txBody>
      </p:sp>
      <p:sp>
        <p:nvSpPr>
          <p:cNvPr id="6" name="Text 3"/>
          <p:cNvSpPr/>
          <p:nvPr/>
        </p:nvSpPr>
        <p:spPr>
          <a:xfrm>
            <a:off x="716153" y="3255010"/>
            <a:ext cx="5120640" cy="822960"/>
          </a:xfrm>
          <a:prstGeom prst="rect">
            <a:avLst/>
          </a:prstGeom>
          <a:noFill/>
        </p:spPr>
        <p:txBody>
          <a:bodyPr wrap="square" rtlCol="0" anchor="ctr"/>
          <a:lstStyle/>
          <a:p>
            <a:pPr marL="0" indent="0">
              <a:buNone/>
            </a:pPr>
            <a:r>
              <a:rPr lang="en-US" sz="1700" dirty="0">
                <a:solidFill>
                  <a:srgbClr val="A9B2C0"/>
                </a:solidFill>
                <a:latin typeface="Calibri" panose="020F0502020204030204" pitchFamily="34" charset="0"/>
                <a:ea typeface="Calibri" panose="020F0502020204030204" pitchFamily="34" charset="-122"/>
                <a:cs typeface="Calibri" panose="020F0502020204030204" pitchFamily="34" charset="-120"/>
              </a:rPr>
              <a:t>An algorithm-driven system for personalized movie and product discovery</a:t>
            </a:r>
            <a:endParaRPr lang="en-US" sz="1700" dirty="0"/>
          </a:p>
        </p:txBody>
      </p:sp>
      <p:sp>
        <p:nvSpPr>
          <p:cNvPr id="7" name="Shape 4"/>
          <p:cNvSpPr/>
          <p:nvPr/>
        </p:nvSpPr>
        <p:spPr>
          <a:xfrm>
            <a:off x="548640" y="4434840"/>
            <a:ext cx="11091672" cy="1874520"/>
          </a:xfrm>
          <a:prstGeom prst="roundRect">
            <a:avLst>
              <a:gd name="adj" fmla="val 3902"/>
            </a:avLst>
          </a:prstGeom>
          <a:solidFill>
            <a:srgbClr val="1C2029"/>
          </a:solidFill>
          <a:ln w="12700">
            <a:solidFill>
              <a:srgbClr val="2E3542"/>
            </a:solidFill>
            <a:prstDash val="solid"/>
          </a:ln>
        </p:spPr>
      </p:sp>
      <p:sp>
        <p:nvSpPr>
          <p:cNvPr id="8" name="Text 5"/>
          <p:cNvSpPr/>
          <p:nvPr/>
        </p:nvSpPr>
        <p:spPr>
          <a:xfrm>
            <a:off x="868680" y="4590288"/>
            <a:ext cx="45720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TEAM MEMBERS</a:t>
            </a:r>
            <a:endParaRPr lang="en-US" sz="1300" dirty="0"/>
          </a:p>
        </p:txBody>
      </p:sp>
      <p:sp>
        <p:nvSpPr>
          <p:cNvPr id="9" name="Shape 6"/>
          <p:cNvSpPr/>
          <p:nvPr/>
        </p:nvSpPr>
        <p:spPr>
          <a:xfrm>
            <a:off x="868680" y="4983480"/>
            <a:ext cx="146304" cy="146304"/>
          </a:xfrm>
          <a:prstGeom prst="ellipse">
            <a:avLst/>
          </a:prstGeom>
          <a:solidFill>
            <a:srgbClr val="FF6B4A"/>
          </a:solidFill>
        </p:spPr>
      </p:sp>
      <p:sp>
        <p:nvSpPr>
          <p:cNvPr id="10" name="Text 7"/>
          <p:cNvSpPr/>
          <p:nvPr/>
        </p:nvSpPr>
        <p:spPr>
          <a:xfrm>
            <a:off x="1124712" y="4901184"/>
            <a:ext cx="3108960" cy="27432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SAI NATH REDDY</a:t>
            </a:r>
            <a:endParaRPr lang="en-US" sz="1400" dirty="0"/>
          </a:p>
        </p:txBody>
      </p:sp>
      <p:sp>
        <p:nvSpPr>
          <p:cNvPr id="11" name="Text 8"/>
          <p:cNvSpPr/>
          <p:nvPr/>
        </p:nvSpPr>
        <p:spPr>
          <a:xfrm>
            <a:off x="1124712" y="5111496"/>
            <a:ext cx="3108960" cy="237744"/>
          </a:xfrm>
          <a:prstGeom prst="rect">
            <a:avLst/>
          </a:prstGeom>
          <a:noFill/>
        </p:spPr>
        <p:txBody>
          <a:bodyPr wrap="square" rtlCol="0" anchor="ctr"/>
          <a:lstStyle/>
          <a:p>
            <a:pPr marL="0" indent="0">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2510030198</a:t>
            </a:r>
            <a:endParaRPr lang="en-US" sz="1200" dirty="0"/>
          </a:p>
        </p:txBody>
      </p:sp>
      <p:sp>
        <p:nvSpPr>
          <p:cNvPr id="12" name="Shape 9"/>
          <p:cNvSpPr/>
          <p:nvPr/>
        </p:nvSpPr>
        <p:spPr>
          <a:xfrm>
            <a:off x="4480560" y="4983480"/>
            <a:ext cx="146304" cy="146304"/>
          </a:xfrm>
          <a:prstGeom prst="ellipse">
            <a:avLst/>
          </a:prstGeom>
          <a:solidFill>
            <a:srgbClr val="FF6B4A"/>
          </a:solidFill>
        </p:spPr>
      </p:sp>
      <p:sp>
        <p:nvSpPr>
          <p:cNvPr id="13" name="Text 10"/>
          <p:cNvSpPr/>
          <p:nvPr/>
        </p:nvSpPr>
        <p:spPr>
          <a:xfrm>
            <a:off x="4736592" y="4901184"/>
            <a:ext cx="3108960" cy="27432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VENKATA SAI DHEERAJ G</a:t>
            </a:r>
            <a:endParaRPr lang="en-US" sz="1400" dirty="0"/>
          </a:p>
        </p:txBody>
      </p:sp>
      <p:sp>
        <p:nvSpPr>
          <p:cNvPr id="14" name="Text 11"/>
          <p:cNvSpPr/>
          <p:nvPr/>
        </p:nvSpPr>
        <p:spPr>
          <a:xfrm>
            <a:off x="4736592" y="5111496"/>
            <a:ext cx="3108960" cy="237744"/>
          </a:xfrm>
          <a:prstGeom prst="rect">
            <a:avLst/>
          </a:prstGeom>
          <a:noFill/>
        </p:spPr>
        <p:txBody>
          <a:bodyPr wrap="square" rtlCol="0" anchor="ctr"/>
          <a:lstStyle/>
          <a:p>
            <a:pPr marL="0" indent="0">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2510030165</a:t>
            </a:r>
            <a:endParaRPr lang="en-US" sz="1200" dirty="0"/>
          </a:p>
        </p:txBody>
      </p:sp>
      <p:sp>
        <p:nvSpPr>
          <p:cNvPr id="15" name="Shape 12"/>
          <p:cNvSpPr/>
          <p:nvPr/>
        </p:nvSpPr>
        <p:spPr>
          <a:xfrm>
            <a:off x="8092440" y="4983480"/>
            <a:ext cx="146304" cy="146304"/>
          </a:xfrm>
          <a:prstGeom prst="ellipse">
            <a:avLst/>
          </a:prstGeom>
          <a:solidFill>
            <a:srgbClr val="FF6B4A"/>
          </a:solidFill>
        </p:spPr>
      </p:sp>
      <p:sp>
        <p:nvSpPr>
          <p:cNvPr id="16" name="Text 13"/>
          <p:cNvSpPr/>
          <p:nvPr/>
        </p:nvSpPr>
        <p:spPr>
          <a:xfrm>
            <a:off x="8348472" y="4901184"/>
            <a:ext cx="3108960" cy="27432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N RISHIKESH REDDY</a:t>
            </a:r>
            <a:endParaRPr lang="en-US" sz="1400" dirty="0"/>
          </a:p>
        </p:txBody>
      </p:sp>
      <p:sp>
        <p:nvSpPr>
          <p:cNvPr id="17" name="Text 14"/>
          <p:cNvSpPr/>
          <p:nvPr/>
        </p:nvSpPr>
        <p:spPr>
          <a:xfrm>
            <a:off x="8348472" y="5111496"/>
            <a:ext cx="3108960" cy="237744"/>
          </a:xfrm>
          <a:prstGeom prst="rect">
            <a:avLst/>
          </a:prstGeom>
          <a:noFill/>
        </p:spPr>
        <p:txBody>
          <a:bodyPr wrap="square" rtlCol="0" anchor="ctr"/>
          <a:lstStyle/>
          <a:p>
            <a:pPr marL="0" indent="0">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2510030414</a:t>
            </a:r>
            <a:endParaRPr lang="en-US" sz="1200" dirty="0"/>
          </a:p>
        </p:txBody>
      </p:sp>
      <p:sp>
        <p:nvSpPr>
          <p:cNvPr id="18" name="Shape 15"/>
          <p:cNvSpPr/>
          <p:nvPr/>
        </p:nvSpPr>
        <p:spPr>
          <a:xfrm>
            <a:off x="868680" y="5550408"/>
            <a:ext cx="146304" cy="146304"/>
          </a:xfrm>
          <a:prstGeom prst="ellipse">
            <a:avLst/>
          </a:prstGeom>
          <a:solidFill>
            <a:srgbClr val="FF6B4A"/>
          </a:solidFill>
        </p:spPr>
      </p:sp>
      <p:sp>
        <p:nvSpPr>
          <p:cNvPr id="19" name="Text 16"/>
          <p:cNvSpPr/>
          <p:nvPr/>
        </p:nvSpPr>
        <p:spPr>
          <a:xfrm>
            <a:off x="1124712" y="5468112"/>
            <a:ext cx="3108960" cy="27432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K ABHILASH GOUD</a:t>
            </a:r>
            <a:endParaRPr lang="en-US" sz="1400" dirty="0"/>
          </a:p>
        </p:txBody>
      </p:sp>
      <p:sp>
        <p:nvSpPr>
          <p:cNvPr id="20" name="Text 17"/>
          <p:cNvSpPr/>
          <p:nvPr/>
        </p:nvSpPr>
        <p:spPr>
          <a:xfrm>
            <a:off x="1124712" y="5678424"/>
            <a:ext cx="3108960" cy="237744"/>
          </a:xfrm>
          <a:prstGeom prst="rect">
            <a:avLst/>
          </a:prstGeom>
          <a:noFill/>
        </p:spPr>
        <p:txBody>
          <a:bodyPr wrap="square" rtlCol="0" anchor="ctr"/>
          <a:lstStyle/>
          <a:p>
            <a:pPr marL="0" indent="0">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2510030298</a:t>
            </a:r>
            <a:endParaRPr lang="en-US" sz="1200" dirty="0"/>
          </a:p>
        </p:txBody>
      </p:sp>
      <p:sp>
        <p:nvSpPr>
          <p:cNvPr id="21" name="Shape 18"/>
          <p:cNvSpPr/>
          <p:nvPr/>
        </p:nvSpPr>
        <p:spPr>
          <a:xfrm>
            <a:off x="4480560" y="5550408"/>
            <a:ext cx="146304" cy="146304"/>
          </a:xfrm>
          <a:prstGeom prst="ellipse">
            <a:avLst/>
          </a:prstGeom>
          <a:solidFill>
            <a:srgbClr val="FF6B4A"/>
          </a:solidFill>
        </p:spPr>
      </p:sp>
      <p:sp>
        <p:nvSpPr>
          <p:cNvPr id="22" name="Text 19"/>
          <p:cNvSpPr/>
          <p:nvPr/>
        </p:nvSpPr>
        <p:spPr>
          <a:xfrm>
            <a:off x="4736592" y="5468112"/>
            <a:ext cx="3108960" cy="27432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J AKHIL SAGAR</a:t>
            </a:r>
            <a:endParaRPr lang="en-US" sz="1400" dirty="0"/>
          </a:p>
        </p:txBody>
      </p:sp>
      <p:sp>
        <p:nvSpPr>
          <p:cNvPr id="23" name="Text 20"/>
          <p:cNvSpPr/>
          <p:nvPr/>
        </p:nvSpPr>
        <p:spPr>
          <a:xfrm>
            <a:off x="4736592" y="5678424"/>
            <a:ext cx="3108960" cy="237744"/>
          </a:xfrm>
          <a:prstGeom prst="rect">
            <a:avLst/>
          </a:prstGeom>
          <a:noFill/>
        </p:spPr>
        <p:txBody>
          <a:bodyPr wrap="square" rtlCol="0" anchor="ctr"/>
          <a:lstStyle/>
          <a:p>
            <a:pPr marL="0" indent="0">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2510030412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566928"/>
          </a:xfrm>
          <a:prstGeom prst="rect">
            <a:avLst/>
          </a:prstGeom>
          <a:solidFill>
            <a:srgbClr val="FF6B4A"/>
          </a:solidFill>
        </p:spPr>
      </p:sp>
      <p:sp>
        <p:nvSpPr>
          <p:cNvPr id="3" name="Text 1"/>
          <p:cNvSpPr/>
          <p:nvPr/>
        </p:nvSpPr>
        <p:spPr>
          <a:xfrm>
            <a:off x="804672" y="365760"/>
            <a:ext cx="73152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01  OVERVIEW</a:t>
            </a:r>
            <a:endParaRPr lang="en-US" sz="1300" dirty="0"/>
          </a:p>
        </p:txBody>
      </p:sp>
      <p:sp>
        <p:nvSpPr>
          <p:cNvPr id="4" name="Text 2"/>
          <p:cNvSpPr/>
          <p:nvPr/>
        </p:nvSpPr>
        <p:spPr>
          <a:xfrm>
            <a:off x="777240" y="603504"/>
            <a:ext cx="10607040" cy="457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Introduction</a:t>
            </a:r>
            <a:endParaRPr lang="en-US" sz="3200" dirty="0"/>
          </a:p>
        </p:txBody>
      </p:sp>
      <p:sp>
        <p:nvSpPr>
          <p:cNvPr id="5" name="Text 3"/>
          <p:cNvSpPr/>
          <p:nvPr/>
        </p:nvSpPr>
        <p:spPr>
          <a:xfrm>
            <a:off x="777240" y="1325880"/>
            <a:ext cx="10607040" cy="914400"/>
          </a:xfrm>
          <a:prstGeom prst="rect">
            <a:avLst/>
          </a:prstGeom>
          <a:noFill/>
        </p:spPr>
        <p:txBody>
          <a:bodyPr wrap="square" rtlCol="0" anchor="ctr"/>
          <a:lstStyle/>
          <a:p>
            <a:pPr marL="0" indent="0">
              <a:lnSpc>
                <a:spcPts val="2400"/>
              </a:lnSpc>
              <a:buNone/>
            </a:pPr>
            <a:r>
              <a:rPr lang="en-US" sz="1600" dirty="0">
                <a:solidFill>
                  <a:srgbClr val="A9B2C0"/>
                </a:solidFill>
                <a:latin typeface="Calibri" panose="020F0502020204030204" pitchFamily="34" charset="0"/>
                <a:ea typeface="Calibri" panose="020F0502020204030204" pitchFamily="34" charset="-122"/>
                <a:cs typeface="Calibri" panose="020F0502020204030204" pitchFamily="34" charset="-120"/>
              </a:rPr>
              <a:t>A Movie and Product Recommendation Engine is an intelligent system that delivers personalized suggestions by analyzing user preferences, ratings, purchase history and behavioural patterns. Classical algorithmic techniques are applied to design and optimize the engine so that it stays efficient, scalable and explainable.</a:t>
            </a:r>
            <a:endParaRPr lang="en-US" sz="1600" dirty="0"/>
          </a:p>
        </p:txBody>
      </p:sp>
      <p:sp>
        <p:nvSpPr>
          <p:cNvPr id="6" name="Shape 4"/>
          <p:cNvSpPr/>
          <p:nvPr/>
        </p:nvSpPr>
        <p:spPr>
          <a:xfrm>
            <a:off x="548640" y="2514600"/>
            <a:ext cx="3502152" cy="1572768"/>
          </a:xfrm>
          <a:prstGeom prst="roundRect">
            <a:avLst>
              <a:gd name="adj" fmla="val 4651"/>
            </a:avLst>
          </a:prstGeom>
          <a:solidFill>
            <a:srgbClr val="1C2029"/>
          </a:solidFill>
          <a:ln w="12700">
            <a:solidFill>
              <a:srgbClr val="2E3542"/>
            </a:solidFill>
            <a:prstDash val="solid"/>
          </a:ln>
        </p:spPr>
      </p:sp>
      <p:sp>
        <p:nvSpPr>
          <p:cNvPr id="7" name="Shape 5"/>
          <p:cNvSpPr/>
          <p:nvPr/>
        </p:nvSpPr>
        <p:spPr>
          <a:xfrm>
            <a:off x="548640" y="2514600"/>
            <a:ext cx="3502152" cy="54864"/>
          </a:xfrm>
          <a:prstGeom prst="rect">
            <a:avLst/>
          </a:prstGeom>
          <a:solidFill>
            <a:srgbClr val="FF6B4A"/>
          </a:solidFill>
        </p:spPr>
      </p:sp>
      <p:sp>
        <p:nvSpPr>
          <p:cNvPr id="8" name="Text 6"/>
          <p:cNvSpPr/>
          <p:nvPr/>
        </p:nvSpPr>
        <p:spPr>
          <a:xfrm>
            <a:off x="804672" y="269748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01</a:t>
            </a:r>
            <a:endParaRPr lang="en-US" sz="1600" dirty="0"/>
          </a:p>
        </p:txBody>
      </p:sp>
      <p:sp>
        <p:nvSpPr>
          <p:cNvPr id="9" name="Text 7"/>
          <p:cNvSpPr/>
          <p:nvPr/>
        </p:nvSpPr>
        <p:spPr>
          <a:xfrm>
            <a:off x="804672" y="301752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String Algorithms</a:t>
            </a:r>
            <a:endParaRPr lang="en-US" sz="1700" dirty="0"/>
          </a:p>
        </p:txBody>
      </p:sp>
      <p:sp>
        <p:nvSpPr>
          <p:cNvPr id="10" name="Text 8"/>
          <p:cNvSpPr/>
          <p:nvPr/>
        </p:nvSpPr>
        <p:spPr>
          <a:xfrm>
            <a:off x="804672" y="335584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Matching titles, descriptions and search queries</a:t>
            </a:r>
            <a:endParaRPr lang="en-US" sz="1300" dirty="0"/>
          </a:p>
        </p:txBody>
      </p:sp>
      <p:sp>
        <p:nvSpPr>
          <p:cNvPr id="11" name="Shape 9"/>
          <p:cNvSpPr/>
          <p:nvPr/>
        </p:nvSpPr>
        <p:spPr>
          <a:xfrm>
            <a:off x="4325112" y="2514600"/>
            <a:ext cx="3502152" cy="1572768"/>
          </a:xfrm>
          <a:prstGeom prst="roundRect">
            <a:avLst>
              <a:gd name="adj" fmla="val 4651"/>
            </a:avLst>
          </a:prstGeom>
          <a:solidFill>
            <a:srgbClr val="1C2029"/>
          </a:solidFill>
          <a:ln w="12700">
            <a:solidFill>
              <a:srgbClr val="2E3542"/>
            </a:solidFill>
            <a:prstDash val="solid"/>
          </a:ln>
        </p:spPr>
      </p:sp>
      <p:sp>
        <p:nvSpPr>
          <p:cNvPr id="12" name="Shape 10"/>
          <p:cNvSpPr/>
          <p:nvPr/>
        </p:nvSpPr>
        <p:spPr>
          <a:xfrm>
            <a:off x="4325112" y="2514600"/>
            <a:ext cx="3502152" cy="54864"/>
          </a:xfrm>
          <a:prstGeom prst="rect">
            <a:avLst/>
          </a:prstGeom>
          <a:solidFill>
            <a:srgbClr val="FF6B4A"/>
          </a:solidFill>
        </p:spPr>
      </p:sp>
      <p:sp>
        <p:nvSpPr>
          <p:cNvPr id="13" name="Text 11"/>
          <p:cNvSpPr/>
          <p:nvPr/>
        </p:nvSpPr>
        <p:spPr>
          <a:xfrm>
            <a:off x="4581144" y="269748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02</a:t>
            </a:r>
            <a:endParaRPr lang="en-US" sz="1600" dirty="0"/>
          </a:p>
        </p:txBody>
      </p:sp>
      <p:sp>
        <p:nvSpPr>
          <p:cNvPr id="14" name="Text 12"/>
          <p:cNvSpPr/>
          <p:nvPr/>
        </p:nvSpPr>
        <p:spPr>
          <a:xfrm>
            <a:off x="4581144" y="301752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Dynamic Programming</a:t>
            </a:r>
            <a:endParaRPr lang="en-US" sz="1700" dirty="0"/>
          </a:p>
        </p:txBody>
      </p:sp>
      <p:sp>
        <p:nvSpPr>
          <p:cNvPr id="15" name="Text 13"/>
          <p:cNvSpPr/>
          <p:nvPr/>
        </p:nvSpPr>
        <p:spPr>
          <a:xfrm>
            <a:off x="4581144" y="335584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Optimal recommendation and ranking sub-problems</a:t>
            </a:r>
            <a:endParaRPr lang="en-US" sz="1300" dirty="0"/>
          </a:p>
        </p:txBody>
      </p:sp>
      <p:sp>
        <p:nvSpPr>
          <p:cNvPr id="16" name="Shape 14"/>
          <p:cNvSpPr/>
          <p:nvPr/>
        </p:nvSpPr>
        <p:spPr>
          <a:xfrm>
            <a:off x="8101584" y="2514600"/>
            <a:ext cx="3502152" cy="1572768"/>
          </a:xfrm>
          <a:prstGeom prst="roundRect">
            <a:avLst>
              <a:gd name="adj" fmla="val 4651"/>
            </a:avLst>
          </a:prstGeom>
          <a:solidFill>
            <a:srgbClr val="1C2029"/>
          </a:solidFill>
          <a:ln w="12700">
            <a:solidFill>
              <a:srgbClr val="2E3542"/>
            </a:solidFill>
            <a:prstDash val="solid"/>
          </a:ln>
        </p:spPr>
      </p:sp>
      <p:sp>
        <p:nvSpPr>
          <p:cNvPr id="17" name="Shape 15"/>
          <p:cNvSpPr/>
          <p:nvPr/>
        </p:nvSpPr>
        <p:spPr>
          <a:xfrm>
            <a:off x="8101584" y="2514600"/>
            <a:ext cx="3502152" cy="54864"/>
          </a:xfrm>
          <a:prstGeom prst="rect">
            <a:avLst/>
          </a:prstGeom>
          <a:solidFill>
            <a:srgbClr val="FF6B4A"/>
          </a:solidFill>
        </p:spPr>
      </p:sp>
      <p:sp>
        <p:nvSpPr>
          <p:cNvPr id="18" name="Text 16"/>
          <p:cNvSpPr/>
          <p:nvPr/>
        </p:nvSpPr>
        <p:spPr>
          <a:xfrm>
            <a:off x="8357616" y="269748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03</a:t>
            </a:r>
            <a:endParaRPr lang="en-US" sz="1600" dirty="0"/>
          </a:p>
        </p:txBody>
      </p:sp>
      <p:sp>
        <p:nvSpPr>
          <p:cNvPr id="19" name="Text 17"/>
          <p:cNvSpPr/>
          <p:nvPr/>
        </p:nvSpPr>
        <p:spPr>
          <a:xfrm>
            <a:off x="8357616" y="301752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Approximation</a:t>
            </a:r>
            <a:endParaRPr lang="en-US" sz="1700" dirty="0"/>
          </a:p>
        </p:txBody>
      </p:sp>
      <p:sp>
        <p:nvSpPr>
          <p:cNvPr id="20" name="Text 18"/>
          <p:cNvSpPr/>
          <p:nvPr/>
        </p:nvSpPr>
        <p:spPr>
          <a:xfrm>
            <a:off x="8357616" y="335584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Near-optimal results at low computational cost</a:t>
            </a:r>
            <a:endParaRPr lang="en-US" sz="1300" dirty="0"/>
          </a:p>
        </p:txBody>
      </p:sp>
      <p:sp>
        <p:nvSpPr>
          <p:cNvPr id="21" name="Shape 19"/>
          <p:cNvSpPr/>
          <p:nvPr/>
        </p:nvSpPr>
        <p:spPr>
          <a:xfrm>
            <a:off x="548640" y="4297680"/>
            <a:ext cx="3502152" cy="1572768"/>
          </a:xfrm>
          <a:prstGeom prst="roundRect">
            <a:avLst>
              <a:gd name="adj" fmla="val 4651"/>
            </a:avLst>
          </a:prstGeom>
          <a:solidFill>
            <a:srgbClr val="1C2029"/>
          </a:solidFill>
          <a:ln w="12700">
            <a:solidFill>
              <a:srgbClr val="2E3542"/>
            </a:solidFill>
            <a:prstDash val="solid"/>
          </a:ln>
        </p:spPr>
      </p:sp>
      <p:sp>
        <p:nvSpPr>
          <p:cNvPr id="22" name="Shape 20"/>
          <p:cNvSpPr/>
          <p:nvPr/>
        </p:nvSpPr>
        <p:spPr>
          <a:xfrm>
            <a:off x="548640" y="4297680"/>
            <a:ext cx="3502152" cy="54864"/>
          </a:xfrm>
          <a:prstGeom prst="rect">
            <a:avLst/>
          </a:prstGeom>
          <a:solidFill>
            <a:srgbClr val="FF6B4A"/>
          </a:solidFill>
        </p:spPr>
      </p:sp>
      <p:sp>
        <p:nvSpPr>
          <p:cNvPr id="23" name="Text 21"/>
          <p:cNvSpPr/>
          <p:nvPr/>
        </p:nvSpPr>
        <p:spPr>
          <a:xfrm>
            <a:off x="804672" y="448056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04</a:t>
            </a:r>
            <a:endParaRPr lang="en-US" sz="1600" dirty="0"/>
          </a:p>
        </p:txBody>
      </p:sp>
      <p:sp>
        <p:nvSpPr>
          <p:cNvPr id="24" name="Text 22"/>
          <p:cNvSpPr/>
          <p:nvPr/>
        </p:nvSpPr>
        <p:spPr>
          <a:xfrm>
            <a:off x="804672" y="480060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Randomized Algorithms</a:t>
            </a:r>
            <a:endParaRPr lang="en-US" sz="1700" dirty="0"/>
          </a:p>
        </p:txBody>
      </p:sp>
      <p:sp>
        <p:nvSpPr>
          <p:cNvPr id="25" name="Text 23"/>
          <p:cNvSpPr/>
          <p:nvPr/>
        </p:nvSpPr>
        <p:spPr>
          <a:xfrm>
            <a:off x="804672" y="513892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Handling large, high-dimensional datasets</a:t>
            </a:r>
            <a:endParaRPr lang="en-US" sz="1300" dirty="0"/>
          </a:p>
        </p:txBody>
      </p:sp>
      <p:sp>
        <p:nvSpPr>
          <p:cNvPr id="26" name="Shape 24"/>
          <p:cNvSpPr/>
          <p:nvPr/>
        </p:nvSpPr>
        <p:spPr>
          <a:xfrm>
            <a:off x="4325112" y="4297680"/>
            <a:ext cx="3502152" cy="1572768"/>
          </a:xfrm>
          <a:prstGeom prst="roundRect">
            <a:avLst>
              <a:gd name="adj" fmla="val 4651"/>
            </a:avLst>
          </a:prstGeom>
          <a:solidFill>
            <a:srgbClr val="1C2029"/>
          </a:solidFill>
          <a:ln w="12700">
            <a:solidFill>
              <a:srgbClr val="2E3542"/>
            </a:solidFill>
            <a:prstDash val="solid"/>
          </a:ln>
        </p:spPr>
      </p:sp>
      <p:sp>
        <p:nvSpPr>
          <p:cNvPr id="27" name="Shape 25"/>
          <p:cNvSpPr/>
          <p:nvPr/>
        </p:nvSpPr>
        <p:spPr>
          <a:xfrm>
            <a:off x="4325112" y="4297680"/>
            <a:ext cx="3502152" cy="54864"/>
          </a:xfrm>
          <a:prstGeom prst="rect">
            <a:avLst/>
          </a:prstGeom>
          <a:solidFill>
            <a:srgbClr val="FF6B4A"/>
          </a:solidFill>
        </p:spPr>
      </p:sp>
      <p:sp>
        <p:nvSpPr>
          <p:cNvPr id="28" name="Text 26"/>
          <p:cNvSpPr/>
          <p:nvPr/>
        </p:nvSpPr>
        <p:spPr>
          <a:xfrm>
            <a:off x="4581144" y="448056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05</a:t>
            </a:r>
            <a:endParaRPr lang="en-US" sz="1600" dirty="0"/>
          </a:p>
        </p:txBody>
      </p:sp>
      <p:sp>
        <p:nvSpPr>
          <p:cNvPr id="29" name="Text 27"/>
          <p:cNvSpPr/>
          <p:nvPr/>
        </p:nvSpPr>
        <p:spPr>
          <a:xfrm>
            <a:off x="4581144" y="480060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Network Flow</a:t>
            </a:r>
            <a:endParaRPr lang="en-US" sz="1700" dirty="0"/>
          </a:p>
        </p:txBody>
      </p:sp>
      <p:sp>
        <p:nvSpPr>
          <p:cNvPr id="30" name="Text 28"/>
          <p:cNvSpPr/>
          <p:nvPr/>
        </p:nvSpPr>
        <p:spPr>
          <a:xfrm>
            <a:off x="4581144" y="513892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Modelling user – movie – product relationships</a:t>
            </a:r>
            <a:endParaRPr lang="en-US" sz="1300" dirty="0"/>
          </a:p>
        </p:txBody>
      </p:sp>
      <p:sp>
        <p:nvSpPr>
          <p:cNvPr id="31" name="Shape 29"/>
          <p:cNvSpPr/>
          <p:nvPr/>
        </p:nvSpPr>
        <p:spPr>
          <a:xfrm>
            <a:off x="8101584" y="4297680"/>
            <a:ext cx="3502152" cy="1572768"/>
          </a:xfrm>
          <a:prstGeom prst="roundRect">
            <a:avLst>
              <a:gd name="adj" fmla="val 4651"/>
            </a:avLst>
          </a:prstGeom>
          <a:solidFill>
            <a:srgbClr val="1C2029"/>
          </a:solidFill>
          <a:ln w="12700">
            <a:solidFill>
              <a:srgbClr val="2E3542"/>
            </a:solidFill>
            <a:prstDash val="solid"/>
          </a:ln>
        </p:spPr>
      </p:sp>
      <p:sp>
        <p:nvSpPr>
          <p:cNvPr id="32" name="Shape 30"/>
          <p:cNvSpPr/>
          <p:nvPr/>
        </p:nvSpPr>
        <p:spPr>
          <a:xfrm>
            <a:off x="8101584" y="4297680"/>
            <a:ext cx="3502152" cy="54864"/>
          </a:xfrm>
          <a:prstGeom prst="rect">
            <a:avLst/>
          </a:prstGeom>
          <a:solidFill>
            <a:srgbClr val="F5B942"/>
          </a:solidFill>
        </p:spPr>
      </p:sp>
      <p:sp>
        <p:nvSpPr>
          <p:cNvPr id="33" name="Text 31"/>
          <p:cNvSpPr/>
          <p:nvPr/>
        </p:nvSpPr>
        <p:spPr>
          <a:xfrm>
            <a:off x="8357616" y="4480560"/>
            <a:ext cx="914400" cy="274320"/>
          </a:xfrm>
          <a:prstGeom prst="rect">
            <a:avLst/>
          </a:prstGeom>
          <a:noFill/>
        </p:spPr>
        <p:txBody>
          <a:bodyPr wrap="square" rtlCol="0" anchor="ctr"/>
          <a:lstStyle/>
          <a:p>
            <a:pPr marL="0" indent="0">
              <a:buNone/>
            </a:pPr>
            <a:r>
              <a:rPr lang="en-US" sz="1600" b="1" dirty="0">
                <a:solidFill>
                  <a:srgbClr val="F5B942"/>
                </a:solidFill>
                <a:latin typeface="Georgia" panose="02040502050405020303" pitchFamily="34" charset="0"/>
                <a:ea typeface="Georgia" panose="02040502050405020303" pitchFamily="34" charset="-122"/>
                <a:cs typeface="Georgia" panose="02040502050405020303" pitchFamily="34" charset="-120"/>
              </a:rPr>
              <a:t>06</a:t>
            </a:r>
            <a:endParaRPr lang="en-US" sz="1600" dirty="0"/>
          </a:p>
        </p:txBody>
      </p:sp>
      <p:sp>
        <p:nvSpPr>
          <p:cNvPr id="34" name="Text 32"/>
          <p:cNvSpPr/>
          <p:nvPr/>
        </p:nvSpPr>
        <p:spPr>
          <a:xfrm>
            <a:off x="8357616" y="4800600"/>
            <a:ext cx="3017520" cy="292608"/>
          </a:xfrm>
          <a:prstGeom prst="rect">
            <a:avLst/>
          </a:prstGeom>
          <a:noFill/>
        </p:spPr>
        <p:txBody>
          <a:bodyPr wrap="square" rtlCol="0" anchor="ctr"/>
          <a:lstStyle/>
          <a:p>
            <a:pPr marL="0" indent="0">
              <a:buNone/>
            </a:pPr>
            <a:r>
              <a:rPr lang="en-US" sz="1700" b="1" dirty="0">
                <a:solidFill>
                  <a:srgbClr val="FFFFFF"/>
                </a:solidFill>
                <a:latin typeface="Georgia" panose="02040502050405020303" pitchFamily="34" charset="0"/>
                <a:ea typeface="Georgia" panose="02040502050405020303" pitchFamily="34" charset="-122"/>
                <a:cs typeface="Georgia" panose="02040502050405020303" pitchFamily="34" charset="-120"/>
              </a:rPr>
              <a:t>Outcome</a:t>
            </a:r>
            <a:endParaRPr lang="en-US" sz="1700" dirty="0"/>
          </a:p>
        </p:txBody>
      </p:sp>
      <p:sp>
        <p:nvSpPr>
          <p:cNvPr id="35" name="Text 33"/>
          <p:cNvSpPr/>
          <p:nvPr/>
        </p:nvSpPr>
        <p:spPr>
          <a:xfrm>
            <a:off x="8357616" y="5138928"/>
            <a:ext cx="3017520" cy="59436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Efficient, scalable and personalized suggestions</a:t>
            </a:r>
            <a:endParaRPr lang="en-US" sz="1300" dirty="0"/>
          </a:p>
        </p:txBody>
      </p:sp>
      <p:sp>
        <p:nvSpPr>
          <p:cNvPr id="36" name="Text 34"/>
          <p:cNvSpPr/>
          <p:nvPr/>
        </p:nvSpPr>
        <p:spPr>
          <a:xfrm>
            <a:off x="11338560" y="6263640"/>
            <a:ext cx="457200" cy="274320"/>
          </a:xfrm>
          <a:prstGeom prst="rect">
            <a:avLst/>
          </a:prstGeom>
          <a:noFill/>
        </p:spPr>
        <p:txBody>
          <a:bodyPr wrap="square" rtlCol="0" anchor="ctr"/>
          <a:lstStyle/>
          <a:p>
            <a:pPr marL="0" indent="0" algn="r">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37" name="Shape 35"/>
          <p:cNvSpPr/>
          <p:nvPr/>
        </p:nvSpPr>
        <p:spPr>
          <a:xfrm>
            <a:off x="548640" y="6446520"/>
            <a:ext cx="11091672" cy="18288"/>
          </a:xfrm>
          <a:prstGeom prst="rect">
            <a:avLst/>
          </a:prstGeom>
          <a:solidFill>
            <a:srgbClr val="2E3542"/>
          </a:solid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566928"/>
          </a:xfrm>
          <a:prstGeom prst="rect">
            <a:avLst/>
          </a:prstGeom>
          <a:solidFill>
            <a:srgbClr val="FF6B4A"/>
          </a:solidFill>
        </p:spPr>
      </p:sp>
      <p:sp>
        <p:nvSpPr>
          <p:cNvPr id="3" name="Text 1"/>
          <p:cNvSpPr/>
          <p:nvPr/>
        </p:nvSpPr>
        <p:spPr>
          <a:xfrm>
            <a:off x="804672" y="365760"/>
            <a:ext cx="73152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02  LITERATURE REVIEW</a:t>
            </a:r>
            <a:endParaRPr lang="en-US" sz="1300" dirty="0"/>
          </a:p>
        </p:txBody>
      </p:sp>
      <p:sp>
        <p:nvSpPr>
          <p:cNvPr id="4" name="Text 2"/>
          <p:cNvSpPr/>
          <p:nvPr/>
        </p:nvSpPr>
        <p:spPr>
          <a:xfrm>
            <a:off x="777240" y="603504"/>
            <a:ext cx="10607040" cy="457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Literature Review</a:t>
            </a:r>
            <a:endParaRPr lang="en-US" sz="3200" dirty="0"/>
          </a:p>
        </p:txBody>
      </p:sp>
      <p:graphicFrame>
        <p:nvGraphicFramePr>
          <p:cNvPr id="5" name="Table 0"/>
          <p:cNvGraphicFramePr>
            <a:graphicFrameLocks noGrp="1"/>
          </p:cNvGraphicFramePr>
          <p:nvPr/>
        </p:nvGraphicFramePr>
        <p:xfrm>
          <a:off x="548640" y="1371600"/>
          <a:ext cx="11091672" cy="4224528"/>
        </p:xfrm>
        <a:graphic>
          <a:graphicData uri="http://schemas.openxmlformats.org/drawingml/2006/table">
            <a:tbl>
              <a:tblPr/>
              <a:tblGrid>
                <a:gridCol w="914400"/>
                <a:gridCol w="2834640"/>
                <a:gridCol w="2560320"/>
                <a:gridCol w="4782312"/>
              </a:tblGrid>
              <a:tr h="384048">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Year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Study / Problem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Approach Used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Finding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r>
              <a:tr h="960120">
                <a:tc>
                  <a:txBody>
                    <a:bodyPr/>
                    <a:lstStyle/>
                    <a:p>
                      <a:pPr marL="0" indent="0" algn="ctr">
                        <a:buNone/>
                      </a:pPr>
                      <a:r>
                        <a:rPr lang="en-US" sz="120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Movie Recommendation using Heterogeneous Graph Neural Network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Heterogeneous Graph Neural Network (HGNN)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Models relationships among users, movies, actors, directors and genres to improve recommendations and address data sparsity and cold-start problems. (ScienceDirect)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r>
              <a:tr h="960120">
                <a:tc>
                  <a:txBody>
                    <a:bodyPr/>
                    <a:lstStyle/>
                    <a:p>
                      <a:pPr marL="0" indent="0" algn="ctr">
                        <a:buNone/>
                      </a:pPr>
                      <a:r>
                        <a:rPr lang="en-US" sz="120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User Preference Modeling for Movie Recommendations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Deep Learning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Uses user behaviour and movie-content information to model complex user preferences and provide more personalized recommendations. (Nature)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r>
              <a:tr h="960120">
                <a:tc>
                  <a:txBody>
                    <a:bodyPr/>
                    <a:lstStyle/>
                    <a:p>
                      <a:pPr marL="0" indent="0" algn="ctr">
                        <a:buNone/>
                      </a:pPr>
                      <a:r>
                        <a:rPr lang="en-US" sz="120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Hybrid Collaborative Filtering for Movie Recommendation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Matrix Factorization + XGBoost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Combines collaborative filtering with machine-learning features to improve prediction and recommendation quality. (ScienceDirect)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r>
              <a:tr h="960120">
                <a:tc>
                  <a:txBody>
                    <a:bodyPr/>
                    <a:lstStyle/>
                    <a:p>
                      <a:pPr marL="0" indent="0" algn="ctr">
                        <a:buNone/>
                      </a:pPr>
                      <a:r>
                        <a:rPr lang="en-US" sz="120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Collaborative Filtering with Temporal Features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Collaborative Filtering + Temporal Information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Considers changes in user preferences and item popularity over time, overcoming limitations of traditional static matrix-factorization methods. (ScienceDirect)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101600" marR="101600" marT="101600" marB="1016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r>
            </a:tbl>
          </a:graphicData>
        </a:graphic>
      </p:graphicFrame>
      <p:sp>
        <p:nvSpPr>
          <p:cNvPr id="6" name="Text 3"/>
          <p:cNvSpPr/>
          <p:nvPr/>
        </p:nvSpPr>
        <p:spPr>
          <a:xfrm>
            <a:off x="11338560" y="6263640"/>
            <a:ext cx="457200" cy="274320"/>
          </a:xfrm>
          <a:prstGeom prst="rect">
            <a:avLst/>
          </a:prstGeom>
          <a:noFill/>
        </p:spPr>
        <p:txBody>
          <a:bodyPr wrap="square" rtlCol="0" anchor="ctr"/>
          <a:lstStyle/>
          <a:p>
            <a:pPr marL="0" indent="0" algn="r">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7" name="Shape 4"/>
          <p:cNvSpPr/>
          <p:nvPr/>
        </p:nvSpPr>
        <p:spPr>
          <a:xfrm>
            <a:off x="548640" y="6446520"/>
            <a:ext cx="11091672" cy="18288"/>
          </a:xfrm>
          <a:prstGeom prst="rect">
            <a:avLst/>
          </a:prstGeom>
          <a:solidFill>
            <a:srgbClr val="2E3542"/>
          </a:solid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566928"/>
          </a:xfrm>
          <a:prstGeom prst="rect">
            <a:avLst/>
          </a:prstGeom>
          <a:solidFill>
            <a:srgbClr val="FF6B4A"/>
          </a:solidFill>
        </p:spPr>
      </p:sp>
      <p:sp>
        <p:nvSpPr>
          <p:cNvPr id="3" name="Text 1"/>
          <p:cNvSpPr/>
          <p:nvPr/>
        </p:nvSpPr>
        <p:spPr>
          <a:xfrm>
            <a:off x="804672" y="365760"/>
            <a:ext cx="73152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03  GAP ANALYSIS</a:t>
            </a:r>
            <a:endParaRPr lang="en-US" sz="1300" dirty="0"/>
          </a:p>
        </p:txBody>
      </p:sp>
      <p:sp>
        <p:nvSpPr>
          <p:cNvPr id="4" name="Text 2"/>
          <p:cNvSpPr/>
          <p:nvPr/>
        </p:nvSpPr>
        <p:spPr>
          <a:xfrm>
            <a:off x="777240" y="603504"/>
            <a:ext cx="10607040" cy="457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Analysis of the Review</a:t>
            </a:r>
            <a:endParaRPr lang="en-US" sz="3200" dirty="0"/>
          </a:p>
        </p:txBody>
      </p:sp>
      <p:graphicFrame>
        <p:nvGraphicFramePr>
          <p:cNvPr id="5" name="Table 0"/>
          <p:cNvGraphicFramePr>
            <a:graphicFrameLocks noGrp="1"/>
          </p:cNvGraphicFramePr>
          <p:nvPr/>
        </p:nvGraphicFramePr>
        <p:xfrm>
          <a:off x="548640" y="1371600"/>
          <a:ext cx="11091672" cy="4718304"/>
        </p:xfrm>
        <a:graphic>
          <a:graphicData uri="http://schemas.openxmlformats.org/drawingml/2006/table">
            <a:tbl>
              <a:tblPr/>
              <a:tblGrid>
                <a:gridCol w="960120"/>
                <a:gridCol w="2240280"/>
                <a:gridCol w="2377440"/>
                <a:gridCol w="2651760"/>
                <a:gridCol w="2862072"/>
              </a:tblGrid>
              <a:tr h="36576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Year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Existing Approach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Strength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Limitation / Gap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Our Proposed Solution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FF6B4A"/>
                    </a:solidFill>
                  </a:tcPr>
                </a:tc>
              </a:tr>
              <a:tr h="859536">
                <a:tc>
                  <a:txBody>
                    <a:bodyPr/>
                    <a:lstStyle/>
                    <a:p>
                      <a:pPr marL="0" indent="0" algn="ctr">
                        <a:buNone/>
                      </a:pPr>
                      <a:r>
                        <a:rPr lang="en-US" sz="105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2026</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Graph-based Movie Recommendation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Captures relationships between users, movies, genres and actors.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Computationally complex; mainly graph / deep-learning focused.</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FFD9A0"/>
                          </a:solidFill>
                          <a:latin typeface="Calibri" panose="020F0502020204030204" pitchFamily="34" charset="0"/>
                          <a:ea typeface="Calibri" panose="020F0502020204030204" pitchFamily="34" charset="-122"/>
                          <a:cs typeface="Calibri" panose="020F0502020204030204" pitchFamily="34" charset="-120"/>
                        </a:rPr>
                        <a:t>Network Flow + Approximation Algorithms for efficient relationship and recommendation optimization.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r>
              <a:tr h="859536">
                <a:tc>
                  <a:txBody>
                    <a:bodyPr/>
                    <a:lstStyle/>
                    <a:p>
                      <a:pPr marL="0" indent="0" algn="ctr">
                        <a:buNone/>
                      </a:pPr>
                      <a:r>
                        <a:rPr lang="en-US" sz="105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2025</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Deep Learning-based Recommendation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Learns complex user preferences and improves personalization.</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Needs large datasets and heavy compute; less explainable.</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FFD9A0"/>
                          </a:solidFill>
                          <a:latin typeface="Calibri" panose="020F0502020204030204" pitchFamily="34" charset="0"/>
                          <a:ea typeface="Calibri" panose="020F0502020204030204" pitchFamily="34" charset="-122"/>
                          <a:cs typeface="Calibri" panose="020F0502020204030204" pitchFamily="34" charset="-120"/>
                        </a:rPr>
                        <a:t>Dynamic Programming + Randomized Algorithms for efficient, scalable recommendations.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r>
              <a:tr h="859536">
                <a:tc>
                  <a:txBody>
                    <a:bodyPr/>
                    <a:lstStyle/>
                    <a:p>
                      <a:pPr marL="0" indent="0" algn="ctr">
                        <a:buNone/>
                      </a:pPr>
                      <a:r>
                        <a:rPr lang="en-US" sz="105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2024</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Hybrid CF + Machine Learning</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Combines multiple methods to improve accuracy.</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Focuses on accuracy; limited classical algorithms and explainability.</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c>
                  <a:txBody>
                    <a:bodyPr/>
                    <a:lstStyle/>
                    <a:p>
                      <a:pPr marL="0" indent="0" algn="l">
                        <a:buNone/>
                      </a:pPr>
                      <a:r>
                        <a:rPr lang="en-US" sz="1050" dirty="0">
                          <a:solidFill>
                            <a:srgbClr val="FFD9A0"/>
                          </a:solidFill>
                          <a:latin typeface="Calibri" panose="020F0502020204030204" pitchFamily="34" charset="0"/>
                          <a:ea typeface="Calibri" panose="020F0502020204030204" pitchFamily="34" charset="-122"/>
                          <a:cs typeface="Calibri" panose="020F0502020204030204" pitchFamily="34" charset="-120"/>
                        </a:rPr>
                        <a:t>Combine multiple algorithmic techniques with understandable recommendation logic.</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71B23"/>
                    </a:solidFill>
                  </a:tcPr>
                </a:tc>
              </a:tr>
              <a:tr h="859536">
                <a:tc>
                  <a:txBody>
                    <a:bodyPr/>
                    <a:lstStyle/>
                    <a:p>
                      <a:pPr marL="0" indent="0" algn="ctr">
                        <a:buNone/>
                      </a:pPr>
                      <a:r>
                        <a:rPr lang="en-US" sz="1050" b="1" dirty="0">
                          <a:solidFill>
                            <a:srgbClr val="F5B942"/>
                          </a:solidFill>
                          <a:latin typeface="Calibri" panose="020F0502020204030204" pitchFamily="34" charset="0"/>
                          <a:ea typeface="Calibri" panose="020F0502020204030204" pitchFamily="34" charset="-122"/>
                          <a:cs typeface="Calibri" panose="020F0502020204030204" pitchFamily="34" charset="-120"/>
                        </a:rPr>
                        <a:t>2023</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Temporal Collaborative Filtering</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Considers changes in user preferences over time.</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Data sparsity and cold-start issues; movie-only focus.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c>
                  <a:txBody>
                    <a:bodyPr/>
                    <a:lstStyle/>
                    <a:p>
                      <a:pPr marL="0" indent="0" algn="l">
                        <a:buNone/>
                      </a:pPr>
                      <a:r>
                        <a:rPr lang="en-US" sz="1050" dirty="0">
                          <a:solidFill>
                            <a:srgbClr val="FFD9A0"/>
                          </a:solidFill>
                          <a:latin typeface="Calibri" panose="020F0502020204030204" pitchFamily="34" charset="0"/>
                          <a:ea typeface="Calibri" panose="020F0502020204030204" pitchFamily="34" charset="-122"/>
                          <a:cs typeface="Calibri" panose="020F0502020204030204" pitchFamily="34" charset="-120"/>
                        </a:rPr>
                        <a:t>String Matching, Dynamic Programming and Approximation for better matching of new users / items.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1C2029"/>
                    </a:solidFill>
                  </a:tcPr>
                </a:tc>
              </a:tr>
              <a:tr h="914400">
                <a:tc>
                  <a:txBody>
                    <a:bodyPr/>
                    <a:lstStyle/>
                    <a:p>
                      <a:pPr marL="0" indent="0" algn="ctr">
                        <a:buNone/>
                      </a:pPr>
                      <a:r>
                        <a:rPr lang="en-US" sz="1050" b="1" dirty="0">
                          <a:solidFill>
                            <a:srgbClr val="F5B942"/>
                          </a:solidFill>
                          <a:latin typeface="Calibri" panose="020F0502020204030204" pitchFamily="34" charset="0"/>
                          <a:ea typeface="Calibri" panose="020F0502020204030204" pitchFamily="34" charset="-122"/>
                          <a:cs typeface="Calibri" panose="020F0502020204030204" pitchFamily="34" charset="-120"/>
                        </a:rPr>
                        <a:t>Overall Gap</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2A1F1C"/>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ML / DL-based recommendation systems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2A1F1C"/>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Good personalization and prediction capability.</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2A1F1C"/>
                    </a:solidFill>
                  </a:tcPr>
                </a:tc>
                <a:tc>
                  <a:txBody>
                    <a:bodyPr/>
                    <a:lstStyle/>
                    <a:p>
                      <a:pPr marL="0" indent="0" algn="l">
                        <a:buNone/>
                      </a:pPr>
                      <a:r>
                        <a:rPr lang="en-US" sz="1050" dirty="0">
                          <a:solidFill>
                            <a:srgbClr val="A9B2C0"/>
                          </a:solidFill>
                          <a:latin typeface="Calibri" panose="020F0502020204030204" pitchFamily="34" charset="0"/>
                          <a:ea typeface="Calibri" panose="020F0502020204030204" pitchFamily="34" charset="-122"/>
                          <a:cs typeface="Calibri" panose="020F0502020204030204" pitchFamily="34" charset="-120"/>
                        </a:rPr>
                        <a:t>Little integration of String, DP, Approximation, Randomized and Network Flow algorithms in one system.</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2A1F1C"/>
                    </a:solidFill>
                  </a:tcPr>
                </a:tc>
                <a:tc>
                  <a:txBody>
                    <a:bodyPr/>
                    <a:lstStyle/>
                    <a:p>
                      <a:pPr marL="0" indent="0" algn="l">
                        <a:buNone/>
                      </a:pPr>
                      <a:r>
                        <a:rPr lang="en-US" sz="1050" dirty="0">
                          <a:solidFill>
                            <a:srgbClr val="FFD9A0"/>
                          </a:solidFill>
                          <a:latin typeface="Calibri" panose="020F0502020204030204" pitchFamily="34" charset="0"/>
                          <a:ea typeface="Calibri" panose="020F0502020204030204" pitchFamily="34" charset="-122"/>
                          <a:cs typeface="Calibri" panose="020F0502020204030204" pitchFamily="34" charset="-120"/>
                        </a:rPr>
                        <a:t>A Movie &amp; Product Recommendation Engine integrating these algorithms for efficient, scalable, personalized results.</a:t>
                      </a:r>
                      <a:endParaRPr lang="en-US" sz="1050" dirty="0">
                        <a:latin typeface="Calibri" panose="020F0502020204030204" pitchFamily="34" charset="0"/>
                        <a:ea typeface="Calibri" panose="020F0502020204030204" pitchFamily="34" charset="0"/>
                        <a:cs typeface="Calibri" panose="020F0502020204030204" pitchFamily="34" charset="0"/>
                      </a:endParaRPr>
                    </a:p>
                  </a:txBody>
                  <a:tcPr marL="88900" marR="88900" marT="88900" marB="88900" anchor="ctr">
                    <a:lnL w="12700" cap="flat" cmpd="sng" algn="ctr">
                      <a:solidFill>
                        <a:srgbClr val="2E3542"/>
                      </a:solidFill>
                      <a:prstDash val="solid"/>
                      <a:round/>
                      <a:headEnd type="none" w="med" len="med"/>
                      <a:tailEnd type="none" w="med" len="med"/>
                    </a:lnL>
                    <a:lnR w="12700" cap="flat" cmpd="sng" algn="ctr">
                      <a:solidFill>
                        <a:srgbClr val="2E3542"/>
                      </a:solidFill>
                      <a:prstDash val="solid"/>
                      <a:round/>
                      <a:headEnd type="none" w="med" len="med"/>
                      <a:tailEnd type="none" w="med" len="med"/>
                    </a:lnR>
                    <a:lnT w="12700" cap="flat" cmpd="sng" algn="ctr">
                      <a:solidFill>
                        <a:srgbClr val="2E3542"/>
                      </a:solidFill>
                      <a:prstDash val="solid"/>
                      <a:round/>
                      <a:headEnd type="none" w="med" len="med"/>
                      <a:tailEnd type="none" w="med" len="med"/>
                    </a:lnT>
                    <a:lnB w="12700" cap="flat" cmpd="sng" algn="ctr">
                      <a:solidFill>
                        <a:srgbClr val="2E3542"/>
                      </a:solidFill>
                      <a:prstDash val="solid"/>
                      <a:round/>
                      <a:headEnd type="none" w="med" len="med"/>
                      <a:tailEnd type="none" w="med" len="med"/>
                    </a:lnB>
                    <a:solidFill>
                      <a:srgbClr val="2A1F1C"/>
                    </a:solidFill>
                  </a:tcPr>
                </a:tc>
              </a:tr>
            </a:tbl>
          </a:graphicData>
        </a:graphic>
      </p:graphicFrame>
      <p:sp>
        <p:nvSpPr>
          <p:cNvPr id="6" name="Text 3"/>
          <p:cNvSpPr/>
          <p:nvPr/>
        </p:nvSpPr>
        <p:spPr>
          <a:xfrm>
            <a:off x="11338560" y="6263640"/>
            <a:ext cx="457200" cy="274320"/>
          </a:xfrm>
          <a:prstGeom prst="rect">
            <a:avLst/>
          </a:prstGeom>
          <a:noFill/>
        </p:spPr>
        <p:txBody>
          <a:bodyPr wrap="square" rtlCol="0" anchor="ctr"/>
          <a:lstStyle/>
          <a:p>
            <a:pPr marL="0" indent="0" algn="r">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7" name="Shape 4"/>
          <p:cNvSpPr/>
          <p:nvPr/>
        </p:nvSpPr>
        <p:spPr>
          <a:xfrm>
            <a:off x="548640" y="6446520"/>
            <a:ext cx="11091672" cy="18288"/>
          </a:xfrm>
          <a:prstGeom prst="rect">
            <a:avLst/>
          </a:prstGeom>
          <a:solidFill>
            <a:srgbClr val="2E3542"/>
          </a:solid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566928"/>
          </a:xfrm>
          <a:prstGeom prst="rect">
            <a:avLst/>
          </a:prstGeom>
          <a:solidFill>
            <a:srgbClr val="FF6B4A"/>
          </a:solidFill>
        </p:spPr>
      </p:sp>
      <p:sp>
        <p:nvSpPr>
          <p:cNvPr id="3" name="Text 1"/>
          <p:cNvSpPr/>
          <p:nvPr/>
        </p:nvSpPr>
        <p:spPr>
          <a:xfrm>
            <a:off x="804672" y="365760"/>
            <a:ext cx="73152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04  SOURCES</a:t>
            </a:r>
            <a:endParaRPr lang="en-US" sz="1300" dirty="0"/>
          </a:p>
        </p:txBody>
      </p:sp>
      <p:sp>
        <p:nvSpPr>
          <p:cNvPr id="4" name="Text 2"/>
          <p:cNvSpPr/>
          <p:nvPr/>
        </p:nvSpPr>
        <p:spPr>
          <a:xfrm>
            <a:off x="777240" y="603504"/>
            <a:ext cx="10607040" cy="457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References</a:t>
            </a:r>
            <a:endParaRPr lang="en-US" sz="3200" dirty="0"/>
          </a:p>
        </p:txBody>
      </p:sp>
      <p:sp>
        <p:nvSpPr>
          <p:cNvPr id="5" name="Shape 3"/>
          <p:cNvSpPr/>
          <p:nvPr/>
        </p:nvSpPr>
        <p:spPr>
          <a:xfrm>
            <a:off x="548640" y="1371600"/>
            <a:ext cx="11091672" cy="585216"/>
          </a:xfrm>
          <a:prstGeom prst="roundRect">
            <a:avLst>
              <a:gd name="adj" fmla="val 7813"/>
            </a:avLst>
          </a:prstGeom>
          <a:solidFill>
            <a:srgbClr val="171B23"/>
          </a:solidFill>
          <a:ln w="12700">
            <a:solidFill>
              <a:srgbClr val="2E3542"/>
            </a:solidFill>
            <a:prstDash val="solid"/>
          </a:ln>
        </p:spPr>
      </p:sp>
      <p:sp>
        <p:nvSpPr>
          <p:cNvPr id="6" name="Shape 4"/>
          <p:cNvSpPr/>
          <p:nvPr/>
        </p:nvSpPr>
        <p:spPr>
          <a:xfrm>
            <a:off x="548640" y="1371600"/>
            <a:ext cx="45720" cy="585216"/>
          </a:xfrm>
          <a:prstGeom prst="rect">
            <a:avLst/>
          </a:prstGeom>
          <a:solidFill>
            <a:srgbClr val="FF6B4A"/>
          </a:solidFill>
        </p:spPr>
      </p:sp>
      <p:sp>
        <p:nvSpPr>
          <p:cNvPr id="7" name="Text 5"/>
          <p:cNvSpPr/>
          <p:nvPr/>
        </p:nvSpPr>
        <p:spPr>
          <a:xfrm>
            <a:off x="685800" y="14996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1</a:t>
            </a:r>
            <a:endParaRPr lang="en-US" sz="1400" dirty="0"/>
          </a:p>
        </p:txBody>
      </p:sp>
      <p:sp>
        <p:nvSpPr>
          <p:cNvPr id="8" name="Text 6"/>
          <p:cNvSpPr/>
          <p:nvPr/>
        </p:nvSpPr>
        <p:spPr>
          <a:xfrm>
            <a:off x="1097280" y="14264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Nazari, A., Mansoorizadeh, M., &amp; Khotanlou, H. (2026). A multi-task heterogeneous graph learning with cross-attention fusion for robust recommendation. Scientific Reports, 16, 18089.</a:t>
            </a:r>
            <a:endParaRPr lang="en-US" sz="1150" dirty="0"/>
          </a:p>
        </p:txBody>
      </p:sp>
      <p:sp>
        <p:nvSpPr>
          <p:cNvPr id="9" name="Shape 7"/>
          <p:cNvSpPr/>
          <p:nvPr/>
        </p:nvSpPr>
        <p:spPr>
          <a:xfrm>
            <a:off x="548640" y="2057400"/>
            <a:ext cx="11091672" cy="585216"/>
          </a:xfrm>
          <a:prstGeom prst="roundRect">
            <a:avLst>
              <a:gd name="adj" fmla="val 7813"/>
            </a:avLst>
          </a:prstGeom>
          <a:solidFill>
            <a:srgbClr val="1C2029"/>
          </a:solidFill>
          <a:ln w="12700">
            <a:solidFill>
              <a:srgbClr val="2E3542"/>
            </a:solidFill>
            <a:prstDash val="solid"/>
          </a:ln>
        </p:spPr>
      </p:sp>
      <p:sp>
        <p:nvSpPr>
          <p:cNvPr id="10" name="Shape 8"/>
          <p:cNvSpPr/>
          <p:nvPr/>
        </p:nvSpPr>
        <p:spPr>
          <a:xfrm>
            <a:off x="548640" y="2057400"/>
            <a:ext cx="45720" cy="585216"/>
          </a:xfrm>
          <a:prstGeom prst="rect">
            <a:avLst/>
          </a:prstGeom>
          <a:solidFill>
            <a:srgbClr val="FF6B4A"/>
          </a:solidFill>
        </p:spPr>
      </p:sp>
      <p:sp>
        <p:nvSpPr>
          <p:cNvPr id="11" name="Text 9"/>
          <p:cNvSpPr/>
          <p:nvPr/>
        </p:nvSpPr>
        <p:spPr>
          <a:xfrm>
            <a:off x="685800" y="21854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2</a:t>
            </a:r>
            <a:endParaRPr lang="en-US" sz="1400" dirty="0"/>
          </a:p>
        </p:txBody>
      </p:sp>
      <p:sp>
        <p:nvSpPr>
          <p:cNvPr id="12" name="Text 10"/>
          <p:cNvSpPr/>
          <p:nvPr/>
        </p:nvSpPr>
        <p:spPr>
          <a:xfrm>
            <a:off x="1097280" y="21122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Movie Recommendation System Using Heterogeneous Graph Neural Network. (2026). Procedia Computer Science, 279, 1538–1544. DOI: 10.1016/j.procs.2026.03.382.</a:t>
            </a:r>
            <a:endParaRPr lang="en-US" sz="1150" dirty="0"/>
          </a:p>
        </p:txBody>
      </p:sp>
      <p:sp>
        <p:nvSpPr>
          <p:cNvPr id="13" name="Shape 11"/>
          <p:cNvSpPr/>
          <p:nvPr/>
        </p:nvSpPr>
        <p:spPr>
          <a:xfrm>
            <a:off x="548640" y="2743200"/>
            <a:ext cx="11091672" cy="585216"/>
          </a:xfrm>
          <a:prstGeom prst="roundRect">
            <a:avLst>
              <a:gd name="adj" fmla="val 7813"/>
            </a:avLst>
          </a:prstGeom>
          <a:solidFill>
            <a:srgbClr val="171B23"/>
          </a:solidFill>
          <a:ln w="12700">
            <a:solidFill>
              <a:srgbClr val="2E3542"/>
            </a:solidFill>
            <a:prstDash val="solid"/>
          </a:ln>
        </p:spPr>
      </p:sp>
      <p:sp>
        <p:nvSpPr>
          <p:cNvPr id="14" name="Shape 12"/>
          <p:cNvSpPr/>
          <p:nvPr/>
        </p:nvSpPr>
        <p:spPr>
          <a:xfrm>
            <a:off x="548640" y="2743200"/>
            <a:ext cx="45720" cy="585216"/>
          </a:xfrm>
          <a:prstGeom prst="rect">
            <a:avLst/>
          </a:prstGeom>
          <a:solidFill>
            <a:srgbClr val="FF6B4A"/>
          </a:solidFill>
        </p:spPr>
      </p:sp>
      <p:sp>
        <p:nvSpPr>
          <p:cNvPr id="15" name="Text 13"/>
          <p:cNvSpPr/>
          <p:nvPr/>
        </p:nvSpPr>
        <p:spPr>
          <a:xfrm>
            <a:off x="685800" y="28712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3</a:t>
            </a:r>
            <a:endParaRPr lang="en-US" sz="1400" dirty="0"/>
          </a:p>
        </p:txBody>
      </p:sp>
      <p:sp>
        <p:nvSpPr>
          <p:cNvPr id="16" name="Text 14"/>
          <p:cNvSpPr/>
          <p:nvPr/>
        </p:nvSpPr>
        <p:spPr>
          <a:xfrm>
            <a:off x="1097280" y="27980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Gao, Y., Zheng, H., &amp; Cui, H. (2025). User preference modeling for movie recommendations based on deep learning. Scientific Reports, 15, 16592. DOI: 10.1038/s41598-025-00030-5.</a:t>
            </a:r>
            <a:endParaRPr lang="en-US" sz="1150" dirty="0"/>
          </a:p>
        </p:txBody>
      </p:sp>
      <p:sp>
        <p:nvSpPr>
          <p:cNvPr id="17" name="Shape 15"/>
          <p:cNvSpPr/>
          <p:nvPr/>
        </p:nvSpPr>
        <p:spPr>
          <a:xfrm>
            <a:off x="548640" y="3429000"/>
            <a:ext cx="11091672" cy="585216"/>
          </a:xfrm>
          <a:prstGeom prst="roundRect">
            <a:avLst>
              <a:gd name="adj" fmla="val 7813"/>
            </a:avLst>
          </a:prstGeom>
          <a:solidFill>
            <a:srgbClr val="1C2029"/>
          </a:solidFill>
          <a:ln w="12700">
            <a:solidFill>
              <a:srgbClr val="2E3542"/>
            </a:solidFill>
            <a:prstDash val="solid"/>
          </a:ln>
        </p:spPr>
      </p:sp>
      <p:sp>
        <p:nvSpPr>
          <p:cNvPr id="18" name="Shape 16"/>
          <p:cNvSpPr/>
          <p:nvPr/>
        </p:nvSpPr>
        <p:spPr>
          <a:xfrm>
            <a:off x="548640" y="3429000"/>
            <a:ext cx="45720" cy="585216"/>
          </a:xfrm>
          <a:prstGeom prst="rect">
            <a:avLst/>
          </a:prstGeom>
          <a:solidFill>
            <a:srgbClr val="FF6B4A"/>
          </a:solidFill>
        </p:spPr>
      </p:sp>
      <p:sp>
        <p:nvSpPr>
          <p:cNvPr id="19" name="Text 17"/>
          <p:cNvSpPr/>
          <p:nvPr/>
        </p:nvSpPr>
        <p:spPr>
          <a:xfrm>
            <a:off x="685800" y="35570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4</a:t>
            </a:r>
            <a:endParaRPr lang="en-US" sz="1400" dirty="0"/>
          </a:p>
        </p:txBody>
      </p:sp>
      <p:sp>
        <p:nvSpPr>
          <p:cNvPr id="20" name="Text 18"/>
          <p:cNvSpPr/>
          <p:nvPr/>
        </p:nvSpPr>
        <p:spPr>
          <a:xfrm>
            <a:off x="1097280" y="34838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Movie Recommendation Based on Deep Neural Networks. (2025). Procedia Computer Science, 266, 32–40. DOI: 10.1016/j.procs.2025.08.005.</a:t>
            </a:r>
            <a:endParaRPr lang="en-US" sz="1150" dirty="0"/>
          </a:p>
        </p:txBody>
      </p:sp>
      <p:sp>
        <p:nvSpPr>
          <p:cNvPr id="21" name="Shape 19"/>
          <p:cNvSpPr/>
          <p:nvPr/>
        </p:nvSpPr>
        <p:spPr>
          <a:xfrm>
            <a:off x="548640" y="4114800"/>
            <a:ext cx="11091672" cy="585216"/>
          </a:xfrm>
          <a:prstGeom prst="roundRect">
            <a:avLst>
              <a:gd name="adj" fmla="val 7813"/>
            </a:avLst>
          </a:prstGeom>
          <a:solidFill>
            <a:srgbClr val="171B23"/>
          </a:solidFill>
          <a:ln w="12700">
            <a:solidFill>
              <a:srgbClr val="2E3542"/>
            </a:solidFill>
            <a:prstDash val="solid"/>
          </a:ln>
        </p:spPr>
      </p:sp>
      <p:sp>
        <p:nvSpPr>
          <p:cNvPr id="22" name="Shape 20"/>
          <p:cNvSpPr/>
          <p:nvPr/>
        </p:nvSpPr>
        <p:spPr>
          <a:xfrm>
            <a:off x="548640" y="4114800"/>
            <a:ext cx="45720" cy="585216"/>
          </a:xfrm>
          <a:prstGeom prst="rect">
            <a:avLst/>
          </a:prstGeom>
          <a:solidFill>
            <a:srgbClr val="FF6B4A"/>
          </a:solidFill>
        </p:spPr>
      </p:sp>
      <p:sp>
        <p:nvSpPr>
          <p:cNvPr id="23" name="Text 21"/>
          <p:cNvSpPr/>
          <p:nvPr/>
        </p:nvSpPr>
        <p:spPr>
          <a:xfrm>
            <a:off x="685800" y="42428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5</a:t>
            </a:r>
            <a:endParaRPr lang="en-US" sz="1400" dirty="0"/>
          </a:p>
        </p:txBody>
      </p:sp>
      <p:sp>
        <p:nvSpPr>
          <p:cNvPr id="24" name="Text 22"/>
          <p:cNvSpPr/>
          <p:nvPr/>
        </p:nvSpPr>
        <p:spPr>
          <a:xfrm>
            <a:off x="1097280" y="41696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Behera, G., Panda, S. K., Hsieh, M.-Y., &amp; Li, K.-C. (2024). Hybrid collaborative filtering using matrix factorization and XGBoost for movie recommendation. Computer Standards &amp; Interfaces, 90, 103847. DOI: 10.1016/j.csi.2024.103847.</a:t>
            </a:r>
            <a:endParaRPr lang="en-US" sz="1150" dirty="0"/>
          </a:p>
        </p:txBody>
      </p:sp>
      <p:sp>
        <p:nvSpPr>
          <p:cNvPr id="25" name="Shape 23"/>
          <p:cNvSpPr/>
          <p:nvPr/>
        </p:nvSpPr>
        <p:spPr>
          <a:xfrm>
            <a:off x="548640" y="4800600"/>
            <a:ext cx="11091672" cy="585216"/>
          </a:xfrm>
          <a:prstGeom prst="roundRect">
            <a:avLst>
              <a:gd name="adj" fmla="val 7813"/>
            </a:avLst>
          </a:prstGeom>
          <a:solidFill>
            <a:srgbClr val="1C2029"/>
          </a:solidFill>
          <a:ln w="12700">
            <a:solidFill>
              <a:srgbClr val="2E3542"/>
            </a:solidFill>
            <a:prstDash val="solid"/>
          </a:ln>
        </p:spPr>
      </p:sp>
      <p:sp>
        <p:nvSpPr>
          <p:cNvPr id="26" name="Shape 24"/>
          <p:cNvSpPr/>
          <p:nvPr/>
        </p:nvSpPr>
        <p:spPr>
          <a:xfrm>
            <a:off x="548640" y="4800600"/>
            <a:ext cx="45720" cy="585216"/>
          </a:xfrm>
          <a:prstGeom prst="rect">
            <a:avLst/>
          </a:prstGeom>
          <a:solidFill>
            <a:srgbClr val="FF6B4A"/>
          </a:solidFill>
        </p:spPr>
      </p:sp>
      <p:sp>
        <p:nvSpPr>
          <p:cNvPr id="27" name="Text 25"/>
          <p:cNvSpPr/>
          <p:nvPr/>
        </p:nvSpPr>
        <p:spPr>
          <a:xfrm>
            <a:off x="685800" y="49286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6</a:t>
            </a:r>
            <a:endParaRPr lang="en-US" sz="1400" dirty="0"/>
          </a:p>
        </p:txBody>
      </p:sp>
      <p:sp>
        <p:nvSpPr>
          <p:cNvPr id="28" name="Text 26"/>
          <p:cNvSpPr/>
          <p:nvPr/>
        </p:nvSpPr>
        <p:spPr>
          <a:xfrm>
            <a:off x="1097280" y="48554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Behera, G., et al. (2023). Collaborative Filtering with Temporal Features for Movie Recommendation System. Procedia Computer Science.</a:t>
            </a:r>
            <a:endParaRPr lang="en-US" sz="1150" dirty="0"/>
          </a:p>
        </p:txBody>
      </p:sp>
      <p:sp>
        <p:nvSpPr>
          <p:cNvPr id="29" name="Shape 27"/>
          <p:cNvSpPr/>
          <p:nvPr/>
        </p:nvSpPr>
        <p:spPr>
          <a:xfrm>
            <a:off x="548640" y="5486400"/>
            <a:ext cx="11091672" cy="585216"/>
          </a:xfrm>
          <a:prstGeom prst="roundRect">
            <a:avLst>
              <a:gd name="adj" fmla="val 7813"/>
            </a:avLst>
          </a:prstGeom>
          <a:solidFill>
            <a:srgbClr val="171B23"/>
          </a:solidFill>
          <a:ln w="12700">
            <a:solidFill>
              <a:srgbClr val="2E3542"/>
            </a:solidFill>
            <a:prstDash val="solid"/>
          </a:ln>
        </p:spPr>
      </p:sp>
      <p:sp>
        <p:nvSpPr>
          <p:cNvPr id="30" name="Shape 28"/>
          <p:cNvSpPr/>
          <p:nvPr/>
        </p:nvSpPr>
        <p:spPr>
          <a:xfrm>
            <a:off x="548640" y="5486400"/>
            <a:ext cx="45720" cy="585216"/>
          </a:xfrm>
          <a:prstGeom prst="rect">
            <a:avLst/>
          </a:prstGeom>
          <a:solidFill>
            <a:srgbClr val="FF6B4A"/>
          </a:solidFill>
        </p:spPr>
      </p:sp>
      <p:sp>
        <p:nvSpPr>
          <p:cNvPr id="31" name="Text 29"/>
          <p:cNvSpPr/>
          <p:nvPr/>
        </p:nvSpPr>
        <p:spPr>
          <a:xfrm>
            <a:off x="685800" y="5614416"/>
            <a:ext cx="365760" cy="329184"/>
          </a:xfrm>
          <a:prstGeom prst="rect">
            <a:avLst/>
          </a:prstGeom>
          <a:noFill/>
        </p:spPr>
        <p:txBody>
          <a:bodyPr wrap="square" rtlCol="0" anchor="ctr"/>
          <a:lstStyle/>
          <a:p>
            <a:pPr marL="0" indent="0" algn="ctr">
              <a:buNone/>
            </a:pPr>
            <a:r>
              <a:rPr lang="en-US" sz="1400" b="1" dirty="0">
                <a:solidFill>
                  <a:srgbClr val="F5B942"/>
                </a:solidFill>
                <a:latin typeface="Georgia" panose="02040502050405020303" pitchFamily="34" charset="0"/>
                <a:ea typeface="Georgia" panose="02040502050405020303" pitchFamily="34" charset="-122"/>
                <a:cs typeface="Georgia" panose="02040502050405020303" pitchFamily="34" charset="-120"/>
              </a:rPr>
              <a:t>7</a:t>
            </a:r>
            <a:endParaRPr lang="en-US" sz="1400" dirty="0"/>
          </a:p>
        </p:txBody>
      </p:sp>
      <p:sp>
        <p:nvSpPr>
          <p:cNvPr id="32" name="Text 30"/>
          <p:cNvSpPr/>
          <p:nvPr/>
        </p:nvSpPr>
        <p:spPr>
          <a:xfrm>
            <a:off x="1097280" y="5541264"/>
            <a:ext cx="10424160" cy="475488"/>
          </a:xfrm>
          <a:prstGeom prst="rect">
            <a:avLst/>
          </a:prstGeom>
          <a:noFill/>
        </p:spPr>
        <p:txBody>
          <a:bodyPr wrap="square" rtlCol="0" anchor="ctr"/>
          <a:lstStyle/>
          <a:p>
            <a:pPr marL="0" indent="0">
              <a:buNone/>
            </a:pPr>
            <a:r>
              <a:rPr lang="en-US" sz="1150" dirty="0">
                <a:solidFill>
                  <a:srgbClr val="A9B2C0"/>
                </a:solidFill>
                <a:latin typeface="Calibri" panose="020F0502020204030204" pitchFamily="34" charset="0"/>
                <a:ea typeface="Calibri" panose="020F0502020204030204" pitchFamily="34" charset="-122"/>
                <a:cs typeface="Calibri" panose="020F0502020204030204" pitchFamily="34" charset="-120"/>
              </a:rPr>
              <a:t>Performance Evaluation of Time-based Recommendation System in Collaborative Filtering Technique. (2023). Procedia Computer Science, 218, 1834–1844. DOI: 10.1016/j.procs.2023.01.161.</a:t>
            </a:r>
            <a:endParaRPr lang="en-US" sz="1150" dirty="0"/>
          </a:p>
        </p:txBody>
      </p:sp>
      <p:sp>
        <p:nvSpPr>
          <p:cNvPr id="33" name="Text 31"/>
          <p:cNvSpPr/>
          <p:nvPr/>
        </p:nvSpPr>
        <p:spPr>
          <a:xfrm>
            <a:off x="11338560" y="6263640"/>
            <a:ext cx="457200" cy="274320"/>
          </a:xfrm>
          <a:prstGeom prst="rect">
            <a:avLst/>
          </a:prstGeom>
          <a:noFill/>
        </p:spPr>
        <p:txBody>
          <a:bodyPr wrap="square" rtlCol="0" anchor="ctr"/>
          <a:lstStyle/>
          <a:p>
            <a:pPr marL="0" indent="0" algn="r">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4" name="Shape 32"/>
          <p:cNvSpPr/>
          <p:nvPr/>
        </p:nvSpPr>
        <p:spPr>
          <a:xfrm>
            <a:off x="548640" y="6446520"/>
            <a:ext cx="11091672" cy="18288"/>
          </a:xfrm>
          <a:prstGeom prst="rect">
            <a:avLst/>
          </a:prstGeom>
          <a:solidFill>
            <a:srgbClr val="2E3542"/>
          </a:soli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566928"/>
          </a:xfrm>
          <a:prstGeom prst="rect">
            <a:avLst/>
          </a:prstGeom>
          <a:solidFill>
            <a:srgbClr val="FF6B4A"/>
          </a:solidFill>
        </p:spPr>
      </p:sp>
      <p:sp>
        <p:nvSpPr>
          <p:cNvPr id="3" name="Text 1"/>
          <p:cNvSpPr/>
          <p:nvPr/>
        </p:nvSpPr>
        <p:spPr>
          <a:xfrm>
            <a:off x="804672" y="365760"/>
            <a:ext cx="7315200" cy="274320"/>
          </a:xfrm>
          <a:prstGeom prst="rect">
            <a:avLst/>
          </a:prstGeom>
          <a:noFill/>
        </p:spPr>
        <p:txBody>
          <a:bodyPr wrap="square" rtlCol="0" anchor="ctr"/>
          <a:lstStyle/>
          <a:p>
            <a:pPr marL="0" indent="0">
              <a:buNone/>
            </a:pPr>
            <a:r>
              <a:rPr lang="en-US" sz="1300" b="1" kern="0" spc="200" dirty="0">
                <a:solidFill>
                  <a:srgbClr val="F5B942"/>
                </a:solidFill>
                <a:latin typeface="Calibri" panose="020F0502020204030204" pitchFamily="34" charset="0"/>
                <a:ea typeface="Calibri" panose="020F0502020204030204" pitchFamily="34" charset="-122"/>
                <a:cs typeface="Calibri" panose="020F0502020204030204" pitchFamily="34" charset="-120"/>
              </a:rPr>
              <a:t>05  CONCLUSION</a:t>
            </a:r>
            <a:endParaRPr lang="en-US" sz="1300" dirty="0"/>
          </a:p>
        </p:txBody>
      </p:sp>
      <p:sp>
        <p:nvSpPr>
          <p:cNvPr id="4" name="Text 2"/>
          <p:cNvSpPr/>
          <p:nvPr/>
        </p:nvSpPr>
        <p:spPr>
          <a:xfrm>
            <a:off x="777240" y="603504"/>
            <a:ext cx="10607040" cy="457200"/>
          </a:xfrm>
          <a:prstGeom prst="rect">
            <a:avLst/>
          </a:prstGeom>
          <a:noFill/>
        </p:spPr>
        <p:txBody>
          <a:bodyPr wrap="square" rtlCol="0" anchor="ctr"/>
          <a:lstStyle/>
          <a:p>
            <a:pPr marL="0" indent="0">
              <a:buNone/>
            </a:pPr>
            <a:r>
              <a:rPr lang="en-US" sz="3200" b="1" dirty="0">
                <a:solidFill>
                  <a:srgbClr val="FFFFFF"/>
                </a:solidFill>
                <a:latin typeface="Georgia" panose="02040502050405020303" pitchFamily="34" charset="0"/>
                <a:ea typeface="Georgia" panose="02040502050405020303" pitchFamily="34" charset="-122"/>
                <a:cs typeface="Georgia" panose="02040502050405020303" pitchFamily="34" charset="-120"/>
              </a:rPr>
              <a:t>Conclusion</a:t>
            </a:r>
            <a:endParaRPr lang="en-US" sz="3200" dirty="0"/>
          </a:p>
        </p:txBody>
      </p:sp>
      <p:sp>
        <p:nvSpPr>
          <p:cNvPr id="5" name="Shape 3"/>
          <p:cNvSpPr/>
          <p:nvPr/>
        </p:nvSpPr>
        <p:spPr>
          <a:xfrm>
            <a:off x="548640" y="1417320"/>
            <a:ext cx="6949440" cy="4480560"/>
          </a:xfrm>
          <a:prstGeom prst="roundRect">
            <a:avLst>
              <a:gd name="adj" fmla="val 1633"/>
            </a:avLst>
          </a:prstGeom>
          <a:solidFill>
            <a:srgbClr val="1C2029"/>
          </a:solidFill>
          <a:ln w="12700">
            <a:solidFill>
              <a:srgbClr val="2E3542"/>
            </a:solidFill>
            <a:prstDash val="solid"/>
          </a:ln>
        </p:spPr>
      </p:sp>
      <p:sp>
        <p:nvSpPr>
          <p:cNvPr id="6" name="Text 4"/>
          <p:cNvSpPr/>
          <p:nvPr/>
        </p:nvSpPr>
        <p:spPr>
          <a:xfrm>
            <a:off x="914400" y="1691640"/>
            <a:ext cx="6309360" cy="3931920"/>
          </a:xfrm>
          <a:prstGeom prst="rect">
            <a:avLst/>
          </a:prstGeom>
          <a:noFill/>
        </p:spPr>
        <p:txBody>
          <a:bodyPr wrap="square" rtlCol="0" anchor="t"/>
          <a:lstStyle/>
          <a:p>
            <a:pPr marL="342900" indent="-342900">
              <a:lnSpc>
                <a:spcPts val="2000"/>
              </a:lnSpc>
              <a:spcAft>
                <a:spcPts val="1400"/>
              </a:spcAft>
              <a:buSzPct val="100000"/>
              <a:buChar char="●"/>
            </a:pPr>
            <a:r>
              <a:rPr lang="en-US" sz="1350" dirty="0">
                <a:solidFill>
                  <a:srgbClr val="A9B2C0"/>
                </a:solidFill>
                <a:latin typeface="Calibri" panose="020F0502020204030204" pitchFamily="34" charset="0"/>
                <a:ea typeface="Calibri" panose="020F0502020204030204" pitchFamily="34" charset="-122"/>
                <a:cs typeface="Calibri" panose="020F0502020204030204" pitchFamily="34" charset="-120"/>
              </a:rPr>
              <a:t>The Movie and Product Recommendation Engine aims to provide personalized and efficient recommendations by analyzing user preferences, ratings and item characteristics. The literature review shows that existing systems mainly depend on machine learning, deep learning, collaborative filtering and graph-based techniques.</a:t>
            </a:r>
            <a:endParaRPr lang="en-US" sz="1350" dirty="0"/>
          </a:p>
          <a:p>
            <a:pPr marL="342900" indent="-342900">
              <a:lnSpc>
                <a:spcPts val="2000"/>
              </a:lnSpc>
              <a:spcAft>
                <a:spcPts val="1400"/>
              </a:spcAft>
              <a:buSzPct val="100000"/>
              <a:buChar char="●"/>
            </a:pPr>
            <a:r>
              <a:rPr lang="en-US" sz="1350" dirty="0">
                <a:solidFill>
                  <a:srgbClr val="A9B2C0"/>
                </a:solidFill>
                <a:latin typeface="Calibri" panose="020F0502020204030204" pitchFamily="34" charset="0"/>
                <a:ea typeface="Calibri" panose="020F0502020204030204" pitchFamily="34" charset="-122"/>
                <a:cs typeface="Calibri" panose="020F0502020204030204" pitchFamily="34" charset="-120"/>
              </a:rPr>
              <a:t>The proposed system focuses on combining String Algorithms, Dynamic Programming, Approximation Algorithms, Randomized Algorithms and Network Flow to improve matching, optimization, scalability and recommendation efficiency — addressing data sparsity, cold-start problems, computational complexity and limited explainability.</a:t>
            </a:r>
            <a:endParaRPr lang="en-US" sz="1350" dirty="0"/>
          </a:p>
          <a:p>
            <a:pPr marL="342900" indent="-342900">
              <a:lnSpc>
                <a:spcPts val="2000"/>
              </a:lnSpc>
              <a:spcAft>
                <a:spcPts val="1400"/>
              </a:spcAft>
              <a:buSzPct val="100000"/>
              <a:buChar char="●"/>
            </a:pPr>
            <a:r>
              <a:rPr lang="en-US" sz="1350" dirty="0">
                <a:solidFill>
                  <a:srgbClr val="A9B2C0"/>
                </a:solidFill>
                <a:latin typeface="Calibri" panose="020F0502020204030204" pitchFamily="34" charset="0"/>
                <a:ea typeface="Calibri" panose="020F0502020204030204" pitchFamily="34" charset="-122"/>
                <a:cs typeface="Calibri" panose="020F0502020204030204" pitchFamily="34" charset="-120"/>
              </a:rPr>
              <a:t>Overall, the proposed engine offers a flexible, efficient and algorithmically driven solution for recommending both movies and products according to individual user needs.</a:t>
            </a:r>
            <a:endParaRPr lang="en-US" sz="1350" dirty="0"/>
          </a:p>
        </p:txBody>
      </p:sp>
      <p:sp>
        <p:nvSpPr>
          <p:cNvPr id="7" name="Shape 5"/>
          <p:cNvSpPr/>
          <p:nvPr/>
        </p:nvSpPr>
        <p:spPr>
          <a:xfrm>
            <a:off x="7772400" y="1417320"/>
            <a:ext cx="3867912" cy="1005840"/>
          </a:xfrm>
          <a:prstGeom prst="roundRect">
            <a:avLst>
              <a:gd name="adj" fmla="val 7273"/>
            </a:avLst>
          </a:prstGeom>
          <a:solidFill>
            <a:srgbClr val="1F2530"/>
          </a:solidFill>
          <a:ln w="12700">
            <a:solidFill>
              <a:srgbClr val="FF6B4A"/>
            </a:solidFill>
            <a:prstDash val="solid"/>
          </a:ln>
        </p:spPr>
      </p:sp>
      <p:sp>
        <p:nvSpPr>
          <p:cNvPr id="8" name="Text 6"/>
          <p:cNvSpPr/>
          <p:nvPr/>
        </p:nvSpPr>
        <p:spPr>
          <a:xfrm>
            <a:off x="8046720" y="1545336"/>
            <a:ext cx="3291840" cy="320040"/>
          </a:xfrm>
          <a:prstGeom prst="rect">
            <a:avLst/>
          </a:prstGeom>
          <a:noFill/>
        </p:spPr>
        <p:txBody>
          <a:bodyPr wrap="square" rtlCol="0" anchor="ctr"/>
          <a:lstStyle/>
          <a:p>
            <a:pPr marL="0" indent="0">
              <a:buNone/>
            </a:pPr>
            <a:r>
              <a:rPr lang="en-US" sz="1800" b="1" dirty="0">
                <a:solidFill>
                  <a:srgbClr val="F5B942"/>
                </a:solidFill>
                <a:latin typeface="Georgia" panose="02040502050405020303" pitchFamily="34" charset="0"/>
                <a:ea typeface="Georgia" panose="02040502050405020303" pitchFamily="34" charset="-122"/>
                <a:cs typeface="Georgia" panose="02040502050405020303" pitchFamily="34" charset="-120"/>
              </a:rPr>
              <a:t>Efficient</a:t>
            </a:r>
            <a:endParaRPr lang="en-US" sz="1800" dirty="0"/>
          </a:p>
        </p:txBody>
      </p:sp>
      <p:sp>
        <p:nvSpPr>
          <p:cNvPr id="9" name="Text 7"/>
          <p:cNvSpPr/>
          <p:nvPr/>
        </p:nvSpPr>
        <p:spPr>
          <a:xfrm>
            <a:off x="8046720" y="1920240"/>
            <a:ext cx="3291840" cy="32004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Low computational overhead</a:t>
            </a:r>
            <a:endParaRPr lang="en-US" sz="1300" dirty="0"/>
          </a:p>
        </p:txBody>
      </p:sp>
      <p:sp>
        <p:nvSpPr>
          <p:cNvPr id="10" name="Shape 8"/>
          <p:cNvSpPr/>
          <p:nvPr/>
        </p:nvSpPr>
        <p:spPr>
          <a:xfrm>
            <a:off x="7772400" y="2578608"/>
            <a:ext cx="3867912" cy="1005840"/>
          </a:xfrm>
          <a:prstGeom prst="roundRect">
            <a:avLst>
              <a:gd name="adj" fmla="val 7273"/>
            </a:avLst>
          </a:prstGeom>
          <a:solidFill>
            <a:srgbClr val="1F2530"/>
          </a:solidFill>
          <a:ln w="12700">
            <a:solidFill>
              <a:srgbClr val="FF6B4A"/>
            </a:solidFill>
            <a:prstDash val="solid"/>
          </a:ln>
        </p:spPr>
      </p:sp>
      <p:sp>
        <p:nvSpPr>
          <p:cNvPr id="11" name="Text 9"/>
          <p:cNvSpPr/>
          <p:nvPr/>
        </p:nvSpPr>
        <p:spPr>
          <a:xfrm>
            <a:off x="8046720" y="2706624"/>
            <a:ext cx="3291840" cy="320040"/>
          </a:xfrm>
          <a:prstGeom prst="rect">
            <a:avLst/>
          </a:prstGeom>
          <a:noFill/>
        </p:spPr>
        <p:txBody>
          <a:bodyPr wrap="square" rtlCol="0" anchor="ctr"/>
          <a:lstStyle/>
          <a:p>
            <a:pPr marL="0" indent="0">
              <a:buNone/>
            </a:pPr>
            <a:r>
              <a:rPr lang="en-US" sz="1800" b="1" dirty="0">
                <a:solidFill>
                  <a:srgbClr val="F5B942"/>
                </a:solidFill>
                <a:latin typeface="Georgia" panose="02040502050405020303" pitchFamily="34" charset="0"/>
                <a:ea typeface="Georgia" panose="02040502050405020303" pitchFamily="34" charset="-122"/>
                <a:cs typeface="Georgia" panose="02040502050405020303" pitchFamily="34" charset="-120"/>
              </a:rPr>
              <a:t>Scalable</a:t>
            </a:r>
            <a:endParaRPr lang="en-US" sz="1800" dirty="0"/>
          </a:p>
        </p:txBody>
      </p:sp>
      <p:sp>
        <p:nvSpPr>
          <p:cNvPr id="12" name="Text 10"/>
          <p:cNvSpPr/>
          <p:nvPr/>
        </p:nvSpPr>
        <p:spPr>
          <a:xfrm>
            <a:off x="8046720" y="3081528"/>
            <a:ext cx="3291840" cy="32004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Handles large catalogues</a:t>
            </a:r>
            <a:endParaRPr lang="en-US" sz="1300" dirty="0"/>
          </a:p>
        </p:txBody>
      </p:sp>
      <p:sp>
        <p:nvSpPr>
          <p:cNvPr id="13" name="Shape 11"/>
          <p:cNvSpPr/>
          <p:nvPr/>
        </p:nvSpPr>
        <p:spPr>
          <a:xfrm>
            <a:off x="7772400" y="3739896"/>
            <a:ext cx="3867912" cy="1005840"/>
          </a:xfrm>
          <a:prstGeom prst="roundRect">
            <a:avLst>
              <a:gd name="adj" fmla="val 7273"/>
            </a:avLst>
          </a:prstGeom>
          <a:solidFill>
            <a:srgbClr val="1F2530"/>
          </a:solidFill>
          <a:ln w="12700">
            <a:solidFill>
              <a:srgbClr val="FF6B4A"/>
            </a:solidFill>
            <a:prstDash val="solid"/>
          </a:ln>
        </p:spPr>
      </p:sp>
      <p:sp>
        <p:nvSpPr>
          <p:cNvPr id="14" name="Text 12"/>
          <p:cNvSpPr/>
          <p:nvPr/>
        </p:nvSpPr>
        <p:spPr>
          <a:xfrm>
            <a:off x="8046720" y="3867912"/>
            <a:ext cx="3291840" cy="320040"/>
          </a:xfrm>
          <a:prstGeom prst="rect">
            <a:avLst/>
          </a:prstGeom>
          <a:noFill/>
        </p:spPr>
        <p:txBody>
          <a:bodyPr wrap="square" rtlCol="0" anchor="ctr"/>
          <a:lstStyle/>
          <a:p>
            <a:pPr marL="0" indent="0">
              <a:buNone/>
            </a:pPr>
            <a:r>
              <a:rPr lang="en-US" sz="1800" b="1" dirty="0">
                <a:solidFill>
                  <a:srgbClr val="F5B942"/>
                </a:solidFill>
                <a:latin typeface="Georgia" panose="02040502050405020303" pitchFamily="34" charset="0"/>
                <a:ea typeface="Georgia" panose="02040502050405020303" pitchFamily="34" charset="-122"/>
                <a:cs typeface="Georgia" panose="02040502050405020303" pitchFamily="34" charset="-120"/>
              </a:rPr>
              <a:t>Explainable</a:t>
            </a:r>
            <a:endParaRPr lang="en-US" sz="1800" dirty="0"/>
          </a:p>
        </p:txBody>
      </p:sp>
      <p:sp>
        <p:nvSpPr>
          <p:cNvPr id="15" name="Text 13"/>
          <p:cNvSpPr/>
          <p:nvPr/>
        </p:nvSpPr>
        <p:spPr>
          <a:xfrm>
            <a:off x="8046720" y="4242816"/>
            <a:ext cx="3291840" cy="32004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Clear recommendation logic</a:t>
            </a:r>
            <a:endParaRPr lang="en-US" sz="1300" dirty="0"/>
          </a:p>
        </p:txBody>
      </p:sp>
      <p:sp>
        <p:nvSpPr>
          <p:cNvPr id="16" name="Shape 14"/>
          <p:cNvSpPr/>
          <p:nvPr/>
        </p:nvSpPr>
        <p:spPr>
          <a:xfrm>
            <a:off x="7772400" y="4901184"/>
            <a:ext cx="3867912" cy="1005840"/>
          </a:xfrm>
          <a:prstGeom prst="roundRect">
            <a:avLst>
              <a:gd name="adj" fmla="val 7273"/>
            </a:avLst>
          </a:prstGeom>
          <a:solidFill>
            <a:srgbClr val="1F2530"/>
          </a:solidFill>
          <a:ln w="12700">
            <a:solidFill>
              <a:srgbClr val="FF6B4A"/>
            </a:solidFill>
            <a:prstDash val="solid"/>
          </a:ln>
        </p:spPr>
      </p:sp>
      <p:sp>
        <p:nvSpPr>
          <p:cNvPr id="17" name="Text 15"/>
          <p:cNvSpPr/>
          <p:nvPr/>
        </p:nvSpPr>
        <p:spPr>
          <a:xfrm>
            <a:off x="8046720" y="5029200"/>
            <a:ext cx="3291840" cy="320040"/>
          </a:xfrm>
          <a:prstGeom prst="rect">
            <a:avLst/>
          </a:prstGeom>
          <a:noFill/>
        </p:spPr>
        <p:txBody>
          <a:bodyPr wrap="square" rtlCol="0" anchor="ctr"/>
          <a:lstStyle/>
          <a:p>
            <a:pPr marL="0" indent="0">
              <a:buNone/>
            </a:pPr>
            <a:r>
              <a:rPr lang="en-US" sz="1800" b="1" dirty="0">
                <a:solidFill>
                  <a:srgbClr val="F5B942"/>
                </a:solidFill>
                <a:latin typeface="Georgia" panose="02040502050405020303" pitchFamily="34" charset="0"/>
                <a:ea typeface="Georgia" panose="02040502050405020303" pitchFamily="34" charset="-122"/>
                <a:cs typeface="Georgia" panose="02040502050405020303" pitchFamily="34" charset="-120"/>
              </a:rPr>
              <a:t>Personalized</a:t>
            </a:r>
            <a:endParaRPr lang="en-US" sz="1800" dirty="0"/>
          </a:p>
        </p:txBody>
      </p:sp>
      <p:sp>
        <p:nvSpPr>
          <p:cNvPr id="18" name="Text 16"/>
          <p:cNvSpPr/>
          <p:nvPr/>
        </p:nvSpPr>
        <p:spPr>
          <a:xfrm>
            <a:off x="8046720" y="5404104"/>
            <a:ext cx="3291840" cy="320040"/>
          </a:xfrm>
          <a:prstGeom prst="rect">
            <a:avLst/>
          </a:prstGeom>
          <a:noFill/>
        </p:spPr>
        <p:txBody>
          <a:bodyPr wrap="square" rtlCol="0" anchor="ctr"/>
          <a:lstStyle/>
          <a:p>
            <a:pPr marL="0" indent="0">
              <a:buNone/>
            </a:pPr>
            <a:r>
              <a:rPr lang="en-US" sz="1300" dirty="0">
                <a:solidFill>
                  <a:srgbClr val="A9B2C0"/>
                </a:solidFill>
                <a:latin typeface="Calibri" panose="020F0502020204030204" pitchFamily="34" charset="0"/>
                <a:ea typeface="Calibri" panose="020F0502020204030204" pitchFamily="34" charset="-122"/>
                <a:cs typeface="Calibri" panose="020F0502020204030204" pitchFamily="34" charset="-120"/>
              </a:rPr>
              <a:t>Movies and products alike</a:t>
            </a:r>
            <a:endParaRPr lang="en-US" sz="1300" dirty="0"/>
          </a:p>
        </p:txBody>
      </p:sp>
      <p:sp>
        <p:nvSpPr>
          <p:cNvPr id="19" name="Text 17"/>
          <p:cNvSpPr/>
          <p:nvPr/>
        </p:nvSpPr>
        <p:spPr>
          <a:xfrm>
            <a:off x="11338560" y="6263640"/>
            <a:ext cx="457200" cy="274320"/>
          </a:xfrm>
          <a:prstGeom prst="rect">
            <a:avLst/>
          </a:prstGeom>
          <a:noFill/>
        </p:spPr>
        <p:txBody>
          <a:bodyPr wrap="square" rtlCol="0" anchor="ctr"/>
          <a:lstStyle/>
          <a:p>
            <a:pPr marL="0" indent="0" algn="r">
              <a:buNone/>
            </a:pPr>
            <a:r>
              <a:rPr lang="en-US" sz="1200" dirty="0">
                <a:solidFill>
                  <a:srgbClr val="A9B2C0"/>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20" name="Shape 18"/>
          <p:cNvSpPr/>
          <p:nvPr/>
        </p:nvSpPr>
        <p:spPr>
          <a:xfrm>
            <a:off x="548640" y="6446520"/>
            <a:ext cx="11091672" cy="18288"/>
          </a:xfrm>
          <a:prstGeom prst="rect">
            <a:avLst/>
          </a:prstGeom>
          <a:solidFill>
            <a:srgbClr val="2E3542"/>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4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2141A">
              <a:alpha val="70000"/>
            </a:srgbClr>
          </a:solidFill>
        </p:spPr>
      </p:sp>
      <p:sp>
        <p:nvSpPr>
          <p:cNvPr id="4" name="Shape 1"/>
          <p:cNvSpPr/>
          <p:nvPr/>
        </p:nvSpPr>
        <p:spPr>
          <a:xfrm>
            <a:off x="777240" y="2743200"/>
            <a:ext cx="1463040" cy="82296"/>
          </a:xfrm>
          <a:prstGeom prst="rect">
            <a:avLst/>
          </a:prstGeom>
          <a:solidFill>
            <a:srgbClr val="FF6B4A"/>
          </a:solidFill>
        </p:spPr>
      </p:sp>
      <p:sp>
        <p:nvSpPr>
          <p:cNvPr id="5" name="Text 2"/>
          <p:cNvSpPr/>
          <p:nvPr/>
        </p:nvSpPr>
        <p:spPr>
          <a:xfrm>
            <a:off x="731520" y="2971800"/>
            <a:ext cx="10698480" cy="1005840"/>
          </a:xfrm>
          <a:prstGeom prst="rect">
            <a:avLst/>
          </a:prstGeom>
          <a:noFill/>
        </p:spPr>
        <p:txBody>
          <a:bodyPr wrap="square" rtlCol="0" anchor="ctr"/>
          <a:lstStyle/>
          <a:p>
            <a:pPr marL="0" indent="0" algn="l">
              <a:buNone/>
            </a:pPr>
            <a:r>
              <a:rPr lang="en-US" sz="6000" b="1" dirty="0">
                <a:solidFill>
                  <a:srgbClr val="FFFFFF"/>
                </a:solidFill>
                <a:latin typeface="Georgia" panose="02040502050405020303" pitchFamily="34" charset="0"/>
                <a:ea typeface="Georgia" panose="02040502050405020303" pitchFamily="34" charset="-122"/>
                <a:cs typeface="Georgia" panose="02040502050405020303" pitchFamily="34" charset="-120"/>
              </a:rPr>
              <a:t>THANK YOU</a:t>
            </a:r>
            <a:endParaRPr lang="en-US" sz="6000" dirty="0"/>
          </a:p>
        </p:txBody>
      </p:sp>
      <p:sp>
        <p:nvSpPr>
          <p:cNvPr id="6" name="Text 3"/>
          <p:cNvSpPr/>
          <p:nvPr/>
        </p:nvSpPr>
        <p:spPr>
          <a:xfrm>
            <a:off x="777240" y="4023360"/>
            <a:ext cx="10698480" cy="457200"/>
          </a:xfrm>
          <a:prstGeom prst="rect">
            <a:avLst/>
          </a:prstGeom>
          <a:noFill/>
        </p:spPr>
        <p:txBody>
          <a:bodyPr wrap="square" rtlCol="0" anchor="ctr"/>
          <a:lstStyle/>
          <a:p>
            <a:pPr marL="0" indent="0">
              <a:buNone/>
            </a:pPr>
            <a:r>
              <a:rPr lang="en-US" sz="1700" dirty="0">
                <a:solidFill>
                  <a:srgbClr val="F5B942"/>
                </a:solidFill>
                <a:latin typeface="Calibri" panose="020F0502020204030204" pitchFamily="34" charset="0"/>
                <a:ea typeface="Calibri" panose="020F0502020204030204" pitchFamily="34" charset="-122"/>
                <a:cs typeface="Calibri" panose="020F0502020204030204" pitchFamily="34" charset="-120"/>
              </a:rPr>
              <a:t>Movie &amp; Product Recommendation Engine  •  Questions are welcome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5657</Words>
  <Application>WPS Presentation</Application>
  <PresentationFormat>On-screen Show (16:9)</PresentationFormat>
  <Paragraphs>248</Paragraphs>
  <Slides>7</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Georgia</vt:lpstr>
      <vt:lpstr>Georgia</vt:lpstr>
      <vt:lpstr>Georgia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Vaishno Devi.K</cp:lastModifiedBy>
  <cp:revision>2</cp:revision>
  <dcterms:created xsi:type="dcterms:W3CDTF">2026-08-18T15:28:00Z</dcterms:created>
  <dcterms:modified xsi:type="dcterms:W3CDTF">2026-08-18T15:30:48Z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0B2400EA5283401090430CE01DA1A246_12</vt:lpwstr>
  </property>
  <property fmtid="{D5CDD505-2E9C-101B-9397-08002B2CF9AE}" pid="3" name="KSOProductBuildVer">
    <vt:lpwstr>1033-12.1.0.28032</vt:lpwstr>
  </property>
</Properties>
</file>