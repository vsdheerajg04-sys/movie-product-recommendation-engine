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7B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ptos Display"/>
              </a:rPr>
              <a:t>MOVIE &amp; PRODUCT
RECOMMENDATION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14600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BECDE1"/>
                </a:solidFill>
              </a:rPr>
              <a:t>REVIEW – 4  |  Implementation, Validation &amp;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657600"/>
            <a:ext cx="5212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/>
            <a:r>
              <a:rPr sz="1500" b="1">
                <a:solidFill>
                  <a:srgbClr val="141B2D"/>
                </a:solidFill>
                <a:latin typeface="Aptos"/>
              </a:rPr>
              <a:t>TEAM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32832"/>
                </a:solidFill>
                <a:latin typeface="Aptos"/>
              </a:rPr>
              <a:t>Sai Nath Reddy • 2510030198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32832"/>
                </a:solidFill>
                <a:latin typeface="Aptos"/>
              </a:rPr>
              <a:t>Venkata Sai Dheeraj G • 2510030165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32832"/>
                </a:solidFill>
                <a:latin typeface="Aptos"/>
              </a:rPr>
              <a:t>N Rishikesh Reddy • 2510030414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32832"/>
                </a:solidFill>
                <a:latin typeface="Aptos"/>
              </a:rPr>
              <a:t>K Abhilash Goud • 2510030298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232832"/>
                </a:solidFill>
                <a:latin typeface="Aptos"/>
              </a:rPr>
              <a:t>J Akhil Sagar • 2510030412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657600"/>
            <a:ext cx="73152" cy="1645920"/>
          </a:xfrm>
          <a:prstGeom prst="rect">
            <a:avLst/>
          </a:prstGeom>
          <a:solidFill>
            <a:srgbClr val="27B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0" y="3657600"/>
            <a:ext cx="4572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/>
            <a:r>
              <a:rPr sz="1500" b="1">
                <a:solidFill>
                  <a:srgbClr val="141B2D"/>
                </a:solidFill>
                <a:latin typeface="Aptos"/>
              </a:rPr>
              <a:t>REVIEW 4 FOCUS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832"/>
                </a:solidFill>
                <a:latin typeface="Aptos"/>
              </a:rPr>
              <a:t>Technical competence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832"/>
                </a:solidFill>
                <a:latin typeface="Aptos"/>
              </a:rPr>
              <a:t>Accuracy of results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832"/>
                </a:solidFill>
                <a:latin typeface="Aptos"/>
              </a:rPr>
              <a:t>Innovation &amp; sustainable features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832"/>
                </a:solidFill>
                <a:latin typeface="Aptos"/>
              </a:rPr>
              <a:t>Utility to society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832"/>
                </a:solidFill>
                <a:latin typeface="Aptos"/>
              </a:rPr>
              <a:t>Presentation &amp; demo readiness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3657600"/>
            <a:ext cx="73152" cy="1645920"/>
          </a:xfrm>
          <a:prstGeom prst="rect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1B2D"/>
                </a:solidFill>
                <a:latin typeface="Aptos Display"/>
              </a:rPr>
              <a:t>Review 4 – What We Have Implemented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382"/>
                </a:solidFill>
                <a:latin typeface="Aptos"/>
              </a:rPr>
              <a:t>Moving from the proposed DSA pipeline to a working recommendation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82"/>
                </a:solidFill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/>
            <a:r>
              <a:rPr sz="1500" b="1">
                <a:solidFill>
                  <a:srgbClr val="141B2D"/>
                </a:solidFill>
                <a:latin typeface="Aptos"/>
              </a:rPr>
              <a:t>01  JAVA DSA IMPLEMENTATION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232832"/>
                </a:solidFill>
                <a:latin typeface="Aptos"/>
              </a:rPr>
              <a:t>Core algorithms are implemented in Java.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232832"/>
                </a:solidFill>
                <a:latin typeface="Aptos"/>
              </a:rPr>
              <a:t>String similarity, Edit Distance, Hashing, Randomized selection, Parallel processing and ranking are integrated.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1874519"/>
          </a:xfrm>
          <a:prstGeom prst="rect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43400" y="132588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/>
            <a:r>
              <a:rPr sz="1500" b="1">
                <a:solidFill>
                  <a:srgbClr val="141B2D"/>
                </a:solidFill>
                <a:latin typeface="Aptos"/>
              </a:rPr>
              <a:t>02  APPLICATION FLOW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232832"/>
                </a:solidFill>
                <a:latin typeface="Aptos"/>
              </a:rPr>
              <a:t>User query → preprocessing → candidate generation → recommendation score → ranking → personalized results.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325880"/>
            <a:ext cx="73152" cy="1874519"/>
          </a:xfrm>
          <a:prstGeom prst="rect">
            <a:avLst/>
          </a:prstGeom>
          <a:solidFill>
            <a:srgbClr val="27B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0" y="132588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/>
            <a:r>
              <a:rPr sz="1500" b="1">
                <a:solidFill>
                  <a:srgbClr val="141B2D"/>
                </a:solidFill>
                <a:latin typeface="Aptos"/>
              </a:rPr>
              <a:t>03  MOVIE + PRODUCT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232832"/>
                </a:solidFill>
                <a:latin typeface="Aptos"/>
              </a:rPr>
              <a:t>The same recommendation methodology supports two domains: entertainment and e-commerce.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325880"/>
            <a:ext cx="73152" cy="1874519"/>
          </a:xfrm>
          <a:prstGeom prst="rect">
            <a:avLst/>
          </a:prstGeom>
          <a:solidFill>
            <a:srgbClr val="2D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520440"/>
            <a:ext cx="53035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/>
            <a:r>
              <a:rPr sz="1500" b="1">
                <a:solidFill>
                  <a:srgbClr val="141B2D"/>
                </a:solidFill>
                <a:latin typeface="Aptos"/>
              </a:rPr>
              <a:t>REVIEW 4 OBJECTIVES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32832"/>
                </a:solidFill>
                <a:latin typeface="Aptos"/>
              </a:rPr>
              <a:t>• Demonstrate algorithm execution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32832"/>
                </a:solidFill>
                <a:latin typeface="Aptos"/>
              </a:rPr>
              <a:t>• Validate search and recommendation outputs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32832"/>
                </a:solidFill>
                <a:latin typeface="Aptos"/>
              </a:rPr>
              <a:t>• Measure response/processing performance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32832"/>
                </a:solidFill>
                <a:latin typeface="Aptos"/>
              </a:rPr>
              <a:t>• Show practical usefulness and scalability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520440"/>
            <a:ext cx="73152" cy="1920240"/>
          </a:xfrm>
          <a:prstGeom prst="rect">
            <a:avLst/>
          </a:prstGeom>
          <a:solidFill>
            <a:srgbClr val="E6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72200" y="3520440"/>
            <a:ext cx="53949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/>
            <a:r>
              <a:rPr sz="1500" b="1">
                <a:solidFill>
                  <a:srgbClr val="141B2D"/>
                </a:solidFill>
                <a:latin typeface="Aptos"/>
              </a:rPr>
              <a:t>WHY THIS MATTERS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32832"/>
                </a:solidFill>
                <a:latin typeface="Aptos"/>
              </a:rPr>
              <a:t>The project is not dependent on one algorithm. Each DSA technique addresses a different bottleneck, and the combined pipeline produces the final recommendation.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520440"/>
            <a:ext cx="73152" cy="1920240"/>
          </a:xfrm>
          <a:prstGeom prst="rect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1B2D"/>
                </a:solidFill>
                <a:latin typeface="Aptos Display"/>
              </a:rP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382"/>
                </a:solidFill>
                <a:latin typeface="Aptos"/>
              </a:rPr>
              <a:t>How the Java DSA layer connects the user request to ranked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82"/>
                </a:solidFill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162763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/>
            <a:r>
              <a:rPr sz="1200" b="1">
                <a:solidFill>
                  <a:srgbClr val="141B2D"/>
                </a:solidFill>
                <a:latin typeface="Aptos"/>
              </a:rPr>
              <a:t>USER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232832"/>
                </a:solidFill>
                <a:latin typeface="Aptos"/>
              </a:rPr>
              <a:t>Query / interaction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73152" cy="1417320"/>
          </a:xfrm>
          <a:prstGeom prst="rect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evron 7"/>
          <p:cNvSpPr/>
          <p:nvPr/>
        </p:nvSpPr>
        <p:spPr>
          <a:xfrm>
            <a:off x="2130552" y="2331720"/>
            <a:ext cx="246888" cy="411480"/>
          </a:xfrm>
          <a:prstGeom prst="chevron">
            <a:avLst/>
          </a:prstGeom>
          <a:solidFill>
            <a:srgbClr val="697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04872" y="1874519"/>
            <a:ext cx="162763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/>
            <a:r>
              <a:rPr sz="1200" b="1">
                <a:solidFill>
                  <a:srgbClr val="141B2D"/>
                </a:solidFill>
                <a:latin typeface="Aptos"/>
              </a:rPr>
              <a:t>PREPROCESS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232832"/>
                </a:solidFill>
                <a:latin typeface="Aptos"/>
              </a:rPr>
              <a:t>Clean &amp; normalize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04872" y="1874519"/>
            <a:ext cx="73152" cy="1417320"/>
          </a:xfrm>
          <a:prstGeom prst="rect">
            <a:avLst/>
          </a:prstGeom>
          <a:solidFill>
            <a:srgbClr val="27B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4032504" y="2331720"/>
            <a:ext cx="246888" cy="411480"/>
          </a:xfrm>
          <a:prstGeom prst="chevron">
            <a:avLst/>
          </a:prstGeom>
          <a:solidFill>
            <a:srgbClr val="697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06824" y="1874519"/>
            <a:ext cx="162763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/>
            <a:r>
              <a:rPr sz="1200" b="1">
                <a:solidFill>
                  <a:srgbClr val="141B2D"/>
                </a:solidFill>
                <a:latin typeface="Aptos"/>
              </a:rPr>
              <a:t>DSA LAYER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232832"/>
                </a:solidFill>
                <a:latin typeface="Aptos"/>
              </a:rPr>
              <a:t>Similarity • Edit Distance • Hashing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6824" y="1874519"/>
            <a:ext cx="73152" cy="1417320"/>
          </a:xfrm>
          <a:prstGeom prst="rect">
            <a:avLst/>
          </a:prstGeom>
          <a:solidFill>
            <a:srgbClr val="E6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5934456" y="2331720"/>
            <a:ext cx="246888" cy="411480"/>
          </a:xfrm>
          <a:prstGeom prst="chevron">
            <a:avLst/>
          </a:prstGeom>
          <a:solidFill>
            <a:srgbClr val="697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08776" y="1874519"/>
            <a:ext cx="162763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/>
            <a:r>
              <a:rPr sz="1200" b="1">
                <a:solidFill>
                  <a:srgbClr val="141B2D"/>
                </a:solidFill>
                <a:latin typeface="Aptos"/>
              </a:rPr>
              <a:t>CANDIDATES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232832"/>
                </a:solidFill>
                <a:latin typeface="Aptos"/>
              </a:rPr>
              <a:t>Generate relevant items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1874519"/>
            <a:ext cx="73152" cy="1417320"/>
          </a:xfrm>
          <a:prstGeom prst="rect">
            <a:avLst/>
          </a:prstGeom>
          <a:solidFill>
            <a:srgbClr val="2D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7836408" y="2331720"/>
            <a:ext cx="246888" cy="411480"/>
          </a:xfrm>
          <a:prstGeom prst="chevron">
            <a:avLst/>
          </a:prstGeom>
          <a:solidFill>
            <a:srgbClr val="697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10728" y="1874519"/>
            <a:ext cx="162763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/>
            <a:r>
              <a:rPr sz="1200" b="1">
                <a:solidFill>
                  <a:srgbClr val="141B2D"/>
                </a:solidFill>
                <a:latin typeface="Aptos"/>
              </a:rPr>
              <a:t>SCORE + RANK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232832"/>
                </a:solidFill>
                <a:latin typeface="Aptos"/>
              </a:rPr>
              <a:t>Weighted score → ranking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10728" y="1874519"/>
            <a:ext cx="73152" cy="1417320"/>
          </a:xfrm>
          <a:prstGeom prst="rect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evron 19"/>
          <p:cNvSpPr/>
          <p:nvPr/>
        </p:nvSpPr>
        <p:spPr>
          <a:xfrm>
            <a:off x="9738360" y="2331720"/>
            <a:ext cx="246888" cy="411480"/>
          </a:xfrm>
          <a:prstGeom prst="chevron">
            <a:avLst/>
          </a:prstGeom>
          <a:solidFill>
            <a:srgbClr val="697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012680" y="1874519"/>
            <a:ext cx="162763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/>
            <a:r>
              <a:rPr sz="1200" b="1">
                <a:solidFill>
                  <a:srgbClr val="141B2D"/>
                </a:solidFill>
                <a:latin typeface="Aptos"/>
              </a:rPr>
              <a:t>OUTPUT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232832"/>
                </a:solidFill>
                <a:latin typeface="Aptos"/>
              </a:rPr>
              <a:t>Movies / products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12680" y="1874519"/>
            <a:ext cx="73152" cy="1417320"/>
          </a:xfrm>
          <a:prstGeom prst="rect">
            <a:avLst/>
          </a:prstGeom>
          <a:solidFill>
            <a:srgbClr val="27B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3977639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/>
            <a:r>
              <a:rPr sz="1400" b="1">
                <a:solidFill>
                  <a:srgbClr val="141B2D"/>
                </a:solidFill>
                <a:latin typeface="Aptos"/>
              </a:rPr>
              <a:t>DATA STRUCTURES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832"/>
                </a:solidFill>
                <a:latin typeface="Aptos"/>
              </a:rPr>
              <a:t>Hash maps • arrays • candidate lists • ranked lists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977639"/>
            <a:ext cx="73152" cy="1325880"/>
          </a:xfrm>
          <a:prstGeom prst="rect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43400" y="3977639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/>
            <a:r>
              <a:rPr sz="1400" b="1">
                <a:solidFill>
                  <a:srgbClr val="141B2D"/>
                </a:solidFill>
                <a:latin typeface="Aptos"/>
              </a:rPr>
              <a:t>BACKEND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832"/>
                </a:solidFill>
                <a:latin typeface="Aptos"/>
              </a:rPr>
              <a:t>Java implementation with algorithm-focused modules and recommendation logic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3977639"/>
            <a:ext cx="73152" cy="1325880"/>
          </a:xfrm>
          <a:prstGeom prst="rect">
            <a:avLst/>
          </a:prstGeom>
          <a:solidFill>
            <a:srgbClr val="27B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01000" y="3977639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/>
            <a:r>
              <a:rPr sz="1400" b="1">
                <a:solidFill>
                  <a:srgbClr val="141B2D"/>
                </a:solidFill>
                <a:latin typeface="Aptos"/>
              </a:rPr>
              <a:t>FRONTEND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832"/>
                </a:solidFill>
                <a:latin typeface="Aptos"/>
              </a:rPr>
              <a:t>Search and recommendation interface for movie/product discovery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01000" y="3977639"/>
            <a:ext cx="73152" cy="1325880"/>
          </a:xfrm>
          <a:prstGeom prst="rect">
            <a:avLst/>
          </a:prstGeom>
          <a:solidFill>
            <a:srgbClr val="2D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1B2D"/>
                </a:solidFill>
                <a:latin typeface="Aptos Display"/>
              </a:rPr>
              <a:t>Core Algorithms –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382"/>
                </a:solidFill>
                <a:latin typeface="Aptos"/>
              </a:rPr>
              <a:t>Each algorithm has a defined role inside the recommendation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82"/>
                </a:solidFill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/>
            <a:r>
              <a:rPr sz="1400" b="1">
                <a:solidFill>
                  <a:srgbClr val="141B2D"/>
                </a:solidFill>
                <a:latin typeface="Aptos"/>
              </a:rPr>
              <a:t>String Similarity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232832"/>
                </a:solidFill>
                <a:latin typeface="Aptos"/>
              </a:rPr>
              <a:t>Matches user queries with movie/product titles.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73152" cy="1234440"/>
          </a:xfrm>
          <a:prstGeom prst="rect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/>
            <a:r>
              <a:rPr sz="1400" b="1">
                <a:solidFill>
                  <a:srgbClr val="141B2D"/>
                </a:solidFill>
                <a:latin typeface="Aptos"/>
              </a:rPr>
              <a:t>Edit Distance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232832"/>
                </a:solidFill>
                <a:latin typeface="Aptos"/>
              </a:rPr>
              <a:t>Finds minimum insertions, deletions and substitutions for spelling correction.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25880"/>
            <a:ext cx="73152" cy="1234440"/>
          </a:xfrm>
          <a:prstGeom prst="rect">
            <a:avLst/>
          </a:prstGeom>
          <a:solidFill>
            <a:srgbClr val="27B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2834639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/>
            <a:r>
              <a:rPr sz="1400" b="1">
                <a:solidFill>
                  <a:srgbClr val="141B2D"/>
                </a:solidFill>
                <a:latin typeface="Aptos"/>
              </a:rPr>
              <a:t>Hashing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232832"/>
                </a:solidFill>
                <a:latin typeface="Aptos"/>
              </a:rPr>
              <a:t>Provides fast lookup of users, items and processed state.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834639"/>
            <a:ext cx="73152" cy="1234440"/>
          </a:xfrm>
          <a:prstGeom prst="rect">
            <a:avLst/>
          </a:prstGeom>
          <a:solidFill>
            <a:srgbClr val="2D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2834639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/>
            <a:r>
              <a:rPr sz="1400" b="1">
                <a:solidFill>
                  <a:srgbClr val="141B2D"/>
                </a:solidFill>
                <a:latin typeface="Aptos"/>
              </a:rPr>
              <a:t>Randomized Selection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232832"/>
                </a:solidFill>
                <a:latin typeface="Aptos"/>
              </a:rPr>
              <a:t>Samples candidate items before expensive scoring.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834639"/>
            <a:ext cx="73152" cy="1234440"/>
          </a:xfrm>
          <a:prstGeom prst="rect">
            <a:avLst/>
          </a:prstGeom>
          <a:solidFill>
            <a:srgbClr val="E6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434340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/>
            <a:r>
              <a:rPr sz="1400" b="1">
                <a:solidFill>
                  <a:srgbClr val="141B2D"/>
                </a:solidFill>
                <a:latin typeface="Aptos"/>
              </a:rPr>
              <a:t>Parallel Processing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232832"/>
                </a:solidFill>
                <a:latin typeface="Aptos"/>
              </a:rPr>
              <a:t>Runs independent recommendation tasks concurrently.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343400"/>
            <a:ext cx="73152" cy="1234440"/>
          </a:xfrm>
          <a:prstGeom prst="rect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434340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/>
            <a:r>
              <a:rPr sz="1400" b="1">
                <a:solidFill>
                  <a:srgbClr val="141B2D"/>
                </a:solidFill>
                <a:latin typeface="Aptos"/>
              </a:rPr>
              <a:t>Ranking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232832"/>
                </a:solidFill>
                <a:latin typeface="Aptos"/>
              </a:rPr>
              <a:t>Orders candidates using the calculated recommendation score.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4343400"/>
            <a:ext cx="73152" cy="1234440"/>
          </a:xfrm>
          <a:prstGeom prst="rect">
            <a:avLst/>
          </a:prstGeom>
          <a:solidFill>
            <a:srgbClr val="27B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5897880"/>
            <a:ext cx="1078992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/>
            <a:r>
              <a:rPr sz="1100" b="1">
                <a:solidFill>
                  <a:srgbClr val="141B2D"/>
                </a:solidFill>
                <a:latin typeface="Aptos"/>
              </a:rPr>
              <a:t>COMPLEXITY SNAPSHOT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232832"/>
                </a:solidFill>
                <a:latin typeface="Aptos"/>
              </a:rPr>
              <a:t>Edit Distance: O(m×n)   •   Hashing: O(1) average lookup   •   Ranking: O(n log 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5897880"/>
            <a:ext cx="73152" cy="45720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1B2D"/>
                </a:solidFill>
                <a:latin typeface="Aptos Display"/>
              </a:rPr>
              <a:t>Search Intelligence – Edit Distance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382"/>
                </a:solidFill>
                <a:latin typeface="Aptos"/>
              </a:rPr>
              <a:t>Handling spelling mistakes and mapping them to the closest valid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82"/>
                </a:solidFill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200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/>
            <a:r>
              <a:rPr sz="1500" b="1">
                <a:solidFill>
                  <a:srgbClr val="141B2D"/>
                </a:solidFill>
                <a:latin typeface="Aptos"/>
              </a:rPr>
              <a:t>USER INPUT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232832"/>
                </a:solidFill>
                <a:latin typeface="Aptos"/>
              </a:rPr>
              <a:t>"interstllar"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73152" cy="1143000"/>
          </a:xfrm>
          <a:prstGeom prst="rect">
            <a:avLst/>
          </a:prstGeom>
          <a:solidFill>
            <a:srgbClr val="E6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34840" y="1325880"/>
            <a:ext cx="3200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/>
            <a:r>
              <a:rPr sz="1500" b="1">
                <a:solidFill>
                  <a:srgbClr val="141B2D"/>
                </a:solidFill>
                <a:latin typeface="Aptos"/>
              </a:rPr>
              <a:t>EDIT DISTANCE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832"/>
                </a:solidFill>
                <a:latin typeface="Aptos"/>
              </a:rPr>
              <a:t>Compare input against candidate titles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832"/>
                </a:solidFill>
                <a:latin typeface="Aptos"/>
              </a:rPr>
              <a:t>Minimum edit operations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325880"/>
            <a:ext cx="73152" cy="1143000"/>
          </a:xfrm>
          <a:prstGeom prst="rect">
            <a:avLst/>
          </a:prstGeom>
          <a:solidFill>
            <a:srgbClr val="27B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83879" y="1325880"/>
            <a:ext cx="3200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/>
            <a:r>
              <a:rPr sz="1500" b="1">
                <a:solidFill>
                  <a:srgbClr val="141B2D"/>
                </a:solidFill>
                <a:latin typeface="Aptos"/>
              </a:rPr>
              <a:t>CORRECTED RESULT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232832"/>
                </a:solidFill>
                <a:latin typeface="Aptos"/>
              </a:rPr>
              <a:t>"Interstellar"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1325880"/>
            <a:ext cx="73152" cy="1143000"/>
          </a:xfrm>
          <a:prstGeom prst="rect">
            <a:avLst/>
          </a:prstGeom>
          <a:solidFill>
            <a:srgbClr val="2D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2926080"/>
            <a:ext cx="475488" cy="438912"/>
          </a:xfrm>
          <a:prstGeom prst="rect">
            <a:avLst/>
          </a:prstGeom>
          <a:solidFill>
            <a:srgbClr val="E8F0F8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32832"/>
                </a:solidFill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9888" y="2926080"/>
            <a:ext cx="475488" cy="43891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32832"/>
                </a:solidFill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65376" y="2926080"/>
            <a:ext cx="475488" cy="438912"/>
          </a:xfrm>
          <a:prstGeom prst="rect">
            <a:avLst/>
          </a:prstGeom>
          <a:solidFill>
            <a:srgbClr val="E8F0F8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32832"/>
                </a:solidFill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40864" y="2926080"/>
            <a:ext cx="475488" cy="43891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32832"/>
                </a:solidFill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2926080"/>
            <a:ext cx="475488" cy="438912"/>
          </a:xfrm>
          <a:prstGeom prst="rect">
            <a:avLst/>
          </a:prstGeom>
          <a:solidFill>
            <a:srgbClr val="E8F0F8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32832"/>
                </a:solidFill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2926080"/>
            <a:ext cx="475488" cy="43891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32832"/>
                </a:solidFill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67328" y="2926080"/>
            <a:ext cx="475488" cy="438912"/>
          </a:xfrm>
          <a:prstGeom prst="rect">
            <a:avLst/>
          </a:prstGeom>
          <a:solidFill>
            <a:srgbClr val="E8F0F8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32832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42816" y="2926080"/>
            <a:ext cx="475488" cy="43891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32832"/>
                </a:solidFill>
              </a:rPr>
              <a:t>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364992"/>
            <a:ext cx="475488" cy="43891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32832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89888" y="3364992"/>
            <a:ext cx="475488" cy="438912"/>
          </a:xfrm>
          <a:prstGeom prst="rect">
            <a:avLst/>
          </a:prstGeom>
          <a:solidFill>
            <a:srgbClr val="E8F0F8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32832"/>
                </a:solidFill>
              </a:rPr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65376" y="3364992"/>
            <a:ext cx="475488" cy="43891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32832"/>
                </a:solidFill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40864" y="3364992"/>
            <a:ext cx="475488" cy="438912"/>
          </a:xfrm>
          <a:prstGeom prst="rect">
            <a:avLst/>
          </a:prstGeom>
          <a:solidFill>
            <a:srgbClr val="E8F0F8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32832"/>
                </a:solidFill>
              </a:rP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16352" y="3364992"/>
            <a:ext cx="475488" cy="43891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32832"/>
                </a:solidFill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3364992"/>
            <a:ext cx="475488" cy="438912"/>
          </a:xfrm>
          <a:prstGeom prst="rect">
            <a:avLst/>
          </a:prstGeom>
          <a:solidFill>
            <a:srgbClr val="E8F0F8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32832"/>
                </a:solidFill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7328" y="3364992"/>
            <a:ext cx="475488" cy="43891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32832"/>
                </a:solidFill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42816" y="3364992"/>
            <a:ext cx="475488" cy="438912"/>
          </a:xfrm>
          <a:prstGeom prst="rect">
            <a:avLst/>
          </a:prstGeom>
          <a:solidFill>
            <a:srgbClr val="E8F0F8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32832"/>
                </a:solidFill>
              </a:rPr>
              <a:t>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3803904"/>
            <a:ext cx="475488" cy="438912"/>
          </a:xfrm>
          <a:prstGeom prst="rect">
            <a:avLst/>
          </a:prstGeom>
          <a:solidFill>
            <a:srgbClr val="E8F0F8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32832"/>
                </a:solidFill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89888" y="3803904"/>
            <a:ext cx="475488" cy="43891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32832"/>
                </a:solidFill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65376" y="3803904"/>
            <a:ext cx="475488" cy="438912"/>
          </a:xfrm>
          <a:prstGeom prst="rect">
            <a:avLst/>
          </a:prstGeom>
          <a:solidFill>
            <a:srgbClr val="E8F0F8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32832"/>
                </a:solidFill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40864" y="3803904"/>
            <a:ext cx="475488" cy="43891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32832"/>
                </a:solidFill>
              </a:rP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16352" y="3803904"/>
            <a:ext cx="475488" cy="438912"/>
          </a:xfrm>
          <a:prstGeom prst="rect">
            <a:avLst/>
          </a:prstGeom>
          <a:solidFill>
            <a:srgbClr val="E8F0F8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32832"/>
                </a:solidFill>
              </a:rPr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40" y="3803904"/>
            <a:ext cx="475488" cy="43891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32832"/>
                </a:solidFill>
              </a:rP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67328" y="3803904"/>
            <a:ext cx="475488" cy="438912"/>
          </a:xfrm>
          <a:prstGeom prst="rect">
            <a:avLst/>
          </a:prstGeom>
          <a:solidFill>
            <a:srgbClr val="E8F0F8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32832"/>
                </a:solidFill>
              </a:rPr>
              <a:t>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42816" y="3803904"/>
            <a:ext cx="475488" cy="43891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32832"/>
                </a:solidFill>
              </a:rPr>
              <a:t>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4242816"/>
            <a:ext cx="475488" cy="43891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32832"/>
                </a:solidFill>
              </a:rP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89888" y="4242816"/>
            <a:ext cx="475488" cy="438912"/>
          </a:xfrm>
          <a:prstGeom prst="rect">
            <a:avLst/>
          </a:prstGeom>
          <a:solidFill>
            <a:srgbClr val="E8F0F8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32832"/>
                </a:solidFill>
              </a:rPr>
              <a:t>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65376" y="4242816"/>
            <a:ext cx="475488" cy="43891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32832"/>
                </a:solidFill>
              </a:rPr>
              <a:t>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40864" y="4242816"/>
            <a:ext cx="475488" cy="438912"/>
          </a:xfrm>
          <a:prstGeom prst="rect">
            <a:avLst/>
          </a:prstGeom>
          <a:solidFill>
            <a:srgbClr val="E8F0F8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32832"/>
                </a:solidFill>
              </a:rP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16352" y="4242816"/>
            <a:ext cx="475488" cy="43891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32832"/>
                </a:solidFill>
              </a:rPr>
              <a:t>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91840" y="4242816"/>
            <a:ext cx="475488" cy="438912"/>
          </a:xfrm>
          <a:prstGeom prst="rect">
            <a:avLst/>
          </a:prstGeom>
          <a:solidFill>
            <a:srgbClr val="E8F0F8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32832"/>
                </a:solidFill>
              </a:rPr>
              <a:t>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67328" y="4242816"/>
            <a:ext cx="475488" cy="43891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32832"/>
                </a:solidFill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42816" y="4242816"/>
            <a:ext cx="475488" cy="438912"/>
          </a:xfrm>
          <a:prstGeom prst="rect">
            <a:avLst/>
          </a:prstGeom>
          <a:solidFill>
            <a:srgbClr val="E8F0F8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32832"/>
                </a:solidFill>
              </a:rPr>
              <a:t>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" y="4681728"/>
            <a:ext cx="475488" cy="438912"/>
          </a:xfrm>
          <a:prstGeom prst="rect">
            <a:avLst/>
          </a:prstGeom>
          <a:solidFill>
            <a:srgbClr val="E8F0F8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32832"/>
                </a:solidFill>
              </a:rPr>
              <a:t>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89888" y="4681728"/>
            <a:ext cx="475488" cy="43891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32832"/>
                </a:solidFill>
              </a:rPr>
              <a:t>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65376" y="4681728"/>
            <a:ext cx="475488" cy="438912"/>
          </a:xfrm>
          <a:prstGeom prst="rect">
            <a:avLst/>
          </a:prstGeom>
          <a:solidFill>
            <a:srgbClr val="E8F0F8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32832"/>
                </a:solidFill>
              </a:rPr>
              <a:t>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40864" y="4681728"/>
            <a:ext cx="475488" cy="43891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32832"/>
                </a:solidFill>
              </a:rPr>
              <a:t>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16352" y="4681728"/>
            <a:ext cx="475488" cy="438912"/>
          </a:xfrm>
          <a:prstGeom prst="rect">
            <a:avLst/>
          </a:prstGeom>
          <a:solidFill>
            <a:srgbClr val="E8F0F8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32832"/>
                </a:solidFill>
              </a:rPr>
              <a:t>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91840" y="4681728"/>
            <a:ext cx="475488" cy="43891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32832"/>
                </a:solidFill>
              </a:rPr>
              <a:t>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67328" y="4681728"/>
            <a:ext cx="475488" cy="438912"/>
          </a:xfrm>
          <a:prstGeom prst="rect">
            <a:avLst/>
          </a:prstGeom>
          <a:solidFill>
            <a:srgbClr val="E8F0F8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32832"/>
                </a:solidFill>
              </a:rPr>
              <a:t>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42816" y="4681728"/>
            <a:ext cx="475488" cy="438912"/>
          </a:xfrm>
          <a:prstGeom prst="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32832"/>
                </a:solidFill>
              </a:rPr>
              <a:t>4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166360" y="2880360"/>
            <a:ext cx="59436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/>
            <a:r>
              <a:rPr sz="1500" b="1">
                <a:solidFill>
                  <a:srgbClr val="141B2D"/>
                </a:solidFill>
                <a:latin typeface="Aptos"/>
              </a:rPr>
              <a:t>VALIDATION CHECKS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32832"/>
                </a:solidFill>
                <a:latin typeface="Aptos"/>
              </a:rPr>
              <a:t>✓ Misspelled query produces a meaningful correction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32832"/>
                </a:solidFill>
                <a:latin typeface="Aptos"/>
              </a:rPr>
              <a:t>✓ Correct title remains a close match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32832"/>
                </a:solidFill>
                <a:latin typeface="Aptos"/>
              </a:rPr>
              <a:t>✓ Search result is passed to candidate generation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32832"/>
                </a:solidFill>
                <a:latin typeface="Aptos"/>
              </a:rPr>
              <a:t>✓ Similarity evidence can be shown before ranking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166360" y="2880360"/>
            <a:ext cx="73152" cy="1965960"/>
          </a:xfrm>
          <a:prstGeom prst="rect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68680" y="5440680"/>
            <a:ext cx="102412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/>
            <a:r>
              <a:rPr sz="1200" b="1">
                <a:solidFill>
                  <a:srgbClr val="141B2D"/>
                </a:solidFill>
                <a:latin typeface="Aptos"/>
              </a:rPr>
              <a:t>REVIEW 4 DEMO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232832"/>
                </a:solidFill>
                <a:latin typeface="Aptos"/>
              </a:rPr>
              <a:t>Enter an incorrect movie/product name live and show the corrected title + returned recommendations.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68680" y="5440680"/>
            <a:ext cx="73152" cy="594360"/>
          </a:xfrm>
          <a:prstGeom prst="rect">
            <a:avLst/>
          </a:prstGeom>
          <a:solidFill>
            <a:srgbClr val="2D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1B2D"/>
                </a:solidFill>
                <a:latin typeface="Aptos Display"/>
              </a:rPr>
              <a:t>Recommendation Scoring &amp;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382"/>
                </a:solidFill>
                <a:latin typeface="Aptos"/>
              </a:rPr>
              <a:t>Turning multiple user signals into an ordered recommendation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82"/>
                </a:solidFill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2011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/>
            <a:r>
              <a:rPr sz="1150" b="1">
                <a:solidFill>
                  <a:srgbClr val="141B2D"/>
                </a:solidFill>
                <a:latin typeface="Aptos"/>
              </a:rPr>
              <a:t>USER SIGNALS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232832"/>
                </a:solidFill>
                <a:latin typeface="Aptos"/>
              </a:rPr>
              <a:t>Ratings • searches • views • purchases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73152" cy="1417320"/>
          </a:xfrm>
          <a:prstGeom prst="rect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evron 7"/>
          <p:cNvSpPr/>
          <p:nvPr/>
        </p:nvSpPr>
        <p:spPr>
          <a:xfrm>
            <a:off x="2532888" y="1874519"/>
            <a:ext cx="228600" cy="347472"/>
          </a:xfrm>
          <a:prstGeom prst="chevron">
            <a:avLst/>
          </a:prstGeom>
          <a:solidFill>
            <a:srgbClr val="697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34639" y="1417320"/>
            <a:ext cx="2011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/>
            <a:r>
              <a:rPr sz="1150" b="1">
                <a:solidFill>
                  <a:srgbClr val="141B2D"/>
                </a:solidFill>
                <a:latin typeface="Aptos"/>
              </a:rPr>
              <a:t>CANDIDATE ITEMS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232832"/>
                </a:solidFill>
                <a:latin typeface="Aptos"/>
              </a:rPr>
              <a:t>Similar / relevant items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39" y="1417320"/>
            <a:ext cx="73152" cy="1417320"/>
          </a:xfrm>
          <a:prstGeom prst="rect">
            <a:avLst/>
          </a:prstGeom>
          <a:solidFill>
            <a:srgbClr val="27B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4864608" y="1874519"/>
            <a:ext cx="228600" cy="347472"/>
          </a:xfrm>
          <a:prstGeom prst="chevron">
            <a:avLst/>
          </a:prstGeom>
          <a:solidFill>
            <a:srgbClr val="697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66359" y="1417320"/>
            <a:ext cx="2011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/>
            <a:r>
              <a:rPr sz="1150" b="1">
                <a:solidFill>
                  <a:srgbClr val="141B2D"/>
                </a:solidFill>
                <a:latin typeface="Aptos"/>
              </a:rPr>
              <a:t>WEIGHTED SCORE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232832"/>
                </a:solidFill>
                <a:latin typeface="Aptos"/>
              </a:rPr>
              <a:t>Combine available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66359" y="1417320"/>
            <a:ext cx="73152" cy="1417320"/>
          </a:xfrm>
          <a:prstGeom prst="rect">
            <a:avLst/>
          </a:prstGeom>
          <a:solidFill>
            <a:srgbClr val="E6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7196327" y="1874519"/>
            <a:ext cx="228600" cy="347472"/>
          </a:xfrm>
          <a:prstGeom prst="chevron">
            <a:avLst/>
          </a:prstGeom>
          <a:solidFill>
            <a:srgbClr val="697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98079" y="1417320"/>
            <a:ext cx="2011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/>
            <a:r>
              <a:rPr sz="1150" b="1">
                <a:solidFill>
                  <a:srgbClr val="141B2D"/>
                </a:solidFill>
                <a:latin typeface="Aptos"/>
              </a:rPr>
              <a:t>SORT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232832"/>
                </a:solidFill>
                <a:latin typeface="Aptos"/>
              </a:rPr>
              <a:t>Higher score → higher rank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1417320"/>
            <a:ext cx="73152" cy="1417320"/>
          </a:xfrm>
          <a:prstGeom prst="rect">
            <a:avLst/>
          </a:prstGeom>
          <a:solidFill>
            <a:srgbClr val="2D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9528048" y="1874519"/>
            <a:ext cx="228600" cy="347472"/>
          </a:xfrm>
          <a:prstGeom prst="chevron">
            <a:avLst/>
          </a:prstGeom>
          <a:solidFill>
            <a:srgbClr val="697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29800" y="1417320"/>
            <a:ext cx="2011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/>
            <a:r>
              <a:rPr sz="1150" b="1">
                <a:solidFill>
                  <a:srgbClr val="141B2D"/>
                </a:solidFill>
                <a:latin typeface="Aptos"/>
              </a:rPr>
              <a:t>PERSONALIZED OUTPUT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232832"/>
                </a:solidFill>
                <a:latin typeface="Aptos"/>
              </a:rPr>
              <a:t>Top recommendations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29800" y="1417320"/>
            <a:ext cx="73152" cy="1417320"/>
          </a:xfrm>
          <a:prstGeom prst="rect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342900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/>
            <a:r>
              <a:rPr sz="1500" b="1">
                <a:solidFill>
                  <a:srgbClr val="141B2D"/>
                </a:solidFill>
                <a:latin typeface="Aptos"/>
              </a:rPr>
              <a:t>SCORING EVIDENCE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832"/>
                </a:solidFill>
                <a:latin typeface="Aptos"/>
              </a:rPr>
              <a:t>• User ratings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832"/>
                </a:solidFill>
                <a:latin typeface="Aptos"/>
              </a:rPr>
              <a:t>• Previous interactions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832"/>
                </a:solidFill>
                <a:latin typeface="Aptos"/>
              </a:rPr>
              <a:t>• Search behavior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832"/>
                </a:solidFill>
                <a:latin typeface="Aptos"/>
              </a:rPr>
              <a:t>• Item similarity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832"/>
                </a:solidFill>
                <a:latin typeface="Aptos"/>
              </a:rPr>
              <a:t>• Similar-user preferences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429000"/>
            <a:ext cx="73152" cy="1828800"/>
          </a:xfrm>
          <a:prstGeom prst="rect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7920" y="342900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/>
            <a:r>
              <a:rPr sz="1500" b="1">
                <a:solidFill>
                  <a:srgbClr val="141B2D"/>
                </a:solidFill>
                <a:latin typeface="Aptos"/>
              </a:rPr>
              <a:t>RANKING RULE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832"/>
                </a:solidFill>
                <a:latin typeface="Aptos"/>
              </a:rPr>
              <a:t>Each candidate receives a weighted recommendation score.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832"/>
                </a:solidFill>
                <a:latin typeface="Aptos"/>
              </a:rPr>
              <a:t/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832"/>
                </a:solidFill>
                <a:latin typeface="Aptos"/>
              </a:rPr>
              <a:t>Higher score = higher rank.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832"/>
                </a:solidFill>
                <a:latin typeface="Aptos"/>
              </a:rPr>
              <a:t/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832"/>
                </a:solidFill>
                <a:latin typeface="Aptos"/>
              </a:rPr>
              <a:t>The ranked list is then personalized for the user.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429000"/>
            <a:ext cx="73152" cy="1828800"/>
          </a:xfrm>
          <a:prstGeom prst="rect">
            <a:avLst/>
          </a:prstGeom>
          <a:solidFill>
            <a:srgbClr val="2D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1B2D"/>
                </a:solidFill>
                <a:latin typeface="Aptos Display"/>
              </a:rPr>
              <a:t>Results, Accuracy &amp; Performance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382"/>
                </a:solidFill>
                <a:latin typeface="Aptos"/>
              </a:rPr>
              <a:t>Review 4 evidence to collect during execution/demo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82"/>
                </a:solidFill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2103120" cy="502920"/>
          </a:xfrm>
          <a:prstGeom prst="rect">
            <a:avLst/>
          </a:prstGeom>
          <a:solidFill>
            <a:srgbClr val="141B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Validation area</a:t>
            </a:r>
          </a:p>
        </p:txBody>
      </p:sp>
      <p:sp>
        <p:nvSpPr>
          <p:cNvPr id="7" name="Rectangle 6"/>
          <p:cNvSpPr/>
          <p:nvPr/>
        </p:nvSpPr>
        <p:spPr>
          <a:xfrm>
            <a:off x="2606039" y="1325880"/>
            <a:ext cx="4663440" cy="502920"/>
          </a:xfrm>
          <a:prstGeom prst="rect">
            <a:avLst/>
          </a:prstGeom>
          <a:solidFill>
            <a:srgbClr val="141B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What we verify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7269479" y="1325880"/>
            <a:ext cx="4572000" cy="502920"/>
          </a:xfrm>
          <a:prstGeom prst="rect">
            <a:avLst/>
          </a:prstGeom>
          <a:solidFill>
            <a:srgbClr val="141B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Review 4 evidence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210312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232832"/>
                </a:solidFill>
              </a:rPr>
              <a:t>Search 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39" y="1828800"/>
            <a:ext cx="466344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232832"/>
                </a:solidFill>
              </a:rPr>
              <a:t>Misspelled query maps to correct/closest title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69479" y="1828800"/>
            <a:ext cx="45720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232832"/>
                </a:solidFill>
              </a:rPr>
              <a:t>Live search demo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578608"/>
            <a:ext cx="2103120" cy="749808"/>
          </a:xfrm>
          <a:prstGeom prst="rect">
            <a:avLst/>
          </a:prstGeom>
          <a:solidFill>
            <a:srgbClr val="EBF0F6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232832"/>
                </a:solidFill>
              </a:rPr>
              <a:t>Recommendation accuracy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39" y="2578608"/>
            <a:ext cx="4663440" cy="749808"/>
          </a:xfrm>
          <a:prstGeom prst="rect">
            <a:avLst/>
          </a:prstGeom>
          <a:solidFill>
            <a:srgbClr val="EBF0F6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232832"/>
                </a:solidFill>
              </a:rPr>
              <a:t>Relevant items appear in ranked output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79" y="2578608"/>
            <a:ext cx="4572000" cy="749808"/>
          </a:xfrm>
          <a:prstGeom prst="rect">
            <a:avLst/>
          </a:prstGeom>
          <a:solidFill>
            <a:srgbClr val="EBF0F6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232832"/>
                </a:solidFill>
              </a:rPr>
              <a:t>Movie + product examples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328415"/>
            <a:ext cx="210312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232832"/>
                </a:solidFill>
              </a:rPr>
              <a:t>Lookup efficiency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06039" y="3328415"/>
            <a:ext cx="466344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232832"/>
                </a:solidFill>
              </a:rPr>
              <a:t>Hash-based access avoids unnecessary scanning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79" y="3328415"/>
            <a:ext cx="45720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232832"/>
                </a:solidFill>
              </a:rPr>
              <a:t>Execution observation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078224"/>
            <a:ext cx="2103120" cy="749808"/>
          </a:xfrm>
          <a:prstGeom prst="rect">
            <a:avLst/>
          </a:prstGeom>
          <a:solidFill>
            <a:srgbClr val="EBF0F6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232832"/>
                </a:solidFill>
              </a:rPr>
              <a:t>Processing time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6039" y="4078224"/>
            <a:ext cx="4663440" cy="749808"/>
          </a:xfrm>
          <a:prstGeom prst="rect">
            <a:avLst/>
          </a:prstGeom>
          <a:solidFill>
            <a:srgbClr val="EBF0F6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232832"/>
                </a:solidFill>
              </a:rPr>
              <a:t>Parallel tasks reduce wall-clock work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9479" y="4078224"/>
            <a:ext cx="4572000" cy="749808"/>
          </a:xfrm>
          <a:prstGeom prst="rect">
            <a:avLst/>
          </a:prstGeom>
          <a:solidFill>
            <a:srgbClr val="EBF0F6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232832"/>
                </a:solidFill>
              </a:rPr>
              <a:t>Measured runtime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828031"/>
            <a:ext cx="210312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232832"/>
                </a:solidFill>
              </a:rPr>
              <a:t>Ranking consistency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06039" y="4828031"/>
            <a:ext cx="466344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232832"/>
                </a:solidFill>
              </a:rPr>
              <a:t>Higher score receives higher rank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69479" y="4828031"/>
            <a:ext cx="45720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232832"/>
                </a:solidFill>
              </a:rPr>
              <a:t>Displayed score + order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715000"/>
            <a:ext cx="107899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/>
            <a:r>
              <a:rPr sz="1100" b="1">
                <a:solidFill>
                  <a:srgbClr val="141B2D"/>
                </a:solidFill>
                <a:latin typeface="Aptos"/>
              </a:rPr>
              <a:t>IMPORTANT</a:t>
            </a:r>
          </a:p>
          <a:p>
            <a:pPr>
              <a:spcBef>
                <a:spcPts val="500"/>
              </a:spcBef>
            </a:pPr>
            <a:r>
              <a:rPr sz="950">
                <a:solidFill>
                  <a:srgbClr val="232832"/>
                </a:solidFill>
                <a:latin typeface="Aptos"/>
              </a:rPr>
              <a:t>Do not claim numerical accuracy/performance until the values are measured from the running system.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5715000"/>
            <a:ext cx="73152" cy="502920"/>
          </a:xfrm>
          <a:prstGeom prst="rect">
            <a:avLst/>
          </a:prstGeom>
          <a:solidFill>
            <a:srgbClr val="E6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1B2D"/>
                </a:solidFill>
                <a:latin typeface="Aptos Display"/>
              </a:rPr>
              <a:t>Innovation, Sustainability &amp; Utility to Society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382"/>
                </a:solidFill>
                <a:latin typeface="Aptos"/>
              </a:rPr>
              <a:t>Mapping the project directly to the Review 4 evaluation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82"/>
                </a:solidFill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/>
            <a:r>
              <a:rPr sz="1500" b="1">
                <a:solidFill>
                  <a:srgbClr val="141B2D"/>
                </a:solidFill>
                <a:latin typeface="Aptos"/>
              </a:rPr>
              <a:t>INNOVATIVE FEATURES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832"/>
                </a:solidFill>
                <a:latin typeface="Aptos"/>
              </a:rPr>
              <a:t>• Unified DSA pipeline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832"/>
                </a:solidFill>
                <a:latin typeface="Aptos"/>
              </a:rPr>
              <a:t>• Spelling-aware search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832"/>
                </a:solidFill>
                <a:latin typeface="Aptos"/>
              </a:rPr>
              <a:t>• Fast lookup + candidate reduction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832"/>
                </a:solidFill>
                <a:latin typeface="Aptos"/>
              </a:rPr>
              <a:t>• Similar-user personalization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832"/>
                </a:solidFill>
                <a:latin typeface="Aptos"/>
              </a:rPr>
              <a:t>• Movie + product support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1874519"/>
          </a:xfrm>
          <a:prstGeom prst="rect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43400" y="132588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/>
            <a:r>
              <a:rPr sz="1500" b="1">
                <a:solidFill>
                  <a:srgbClr val="141B2D"/>
                </a:solidFill>
                <a:latin typeface="Aptos"/>
              </a:rPr>
              <a:t>SUSTAINABLE DESIGN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832"/>
                </a:solidFill>
                <a:latin typeface="Aptos"/>
              </a:rPr>
              <a:t>• Reuses one algorithmic framework across domains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832"/>
                </a:solidFill>
                <a:latin typeface="Aptos"/>
              </a:rPr>
              <a:t>• Reduces unnecessary computation through candidate selection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832"/>
                </a:solidFill>
                <a:latin typeface="Aptos"/>
              </a:rPr>
              <a:t>• Parallelizes independent tasks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832"/>
                </a:solidFill>
                <a:latin typeface="Aptos"/>
              </a:rPr>
              <a:t>• Designed for scalable data growth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325880"/>
            <a:ext cx="73152" cy="1874519"/>
          </a:xfrm>
          <a:prstGeom prst="rect">
            <a:avLst/>
          </a:prstGeom>
          <a:solidFill>
            <a:srgbClr val="2D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0" y="132588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/>
            <a:r>
              <a:rPr sz="1500" b="1">
                <a:solidFill>
                  <a:srgbClr val="141B2D"/>
                </a:solidFill>
                <a:latin typeface="Aptos"/>
              </a:rPr>
              <a:t>UTILITY TO SOCIETY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832"/>
                </a:solidFill>
                <a:latin typeface="Aptos"/>
              </a:rPr>
              <a:t>• Helps users discover relevant content faster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832"/>
                </a:solidFill>
                <a:latin typeface="Aptos"/>
              </a:rPr>
              <a:t>• Reduces search effort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832"/>
                </a:solidFill>
                <a:latin typeface="Aptos"/>
              </a:rPr>
              <a:t>• Improves product discovery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832"/>
                </a:solidFill>
                <a:latin typeface="Aptos"/>
              </a:rPr>
              <a:t>• Can support entertainment, e-commerce and other digital services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325880"/>
            <a:ext cx="73152" cy="1874519"/>
          </a:xfrm>
          <a:prstGeom prst="rect">
            <a:avLst/>
          </a:prstGeom>
          <a:solidFill>
            <a:srgbClr val="27B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56616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/>
            <a:r>
              <a:rPr sz="1500" b="1">
                <a:solidFill>
                  <a:srgbClr val="141B2D"/>
                </a:solidFill>
                <a:latin typeface="Aptos"/>
              </a:rPr>
              <a:t>ADAPTABILITY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32832"/>
                </a:solidFill>
                <a:latin typeface="Aptos"/>
              </a:rPr>
              <a:t>The methodology can be extended to music streaming, online learning, digital marketing and business analytics.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566160"/>
            <a:ext cx="73152" cy="1828800"/>
          </a:xfrm>
          <a:prstGeom prst="rect">
            <a:avLst/>
          </a:prstGeom>
          <a:solidFill>
            <a:srgbClr val="E6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72200" y="3566160"/>
            <a:ext cx="5394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/>
            <a:r>
              <a:rPr sz="1500" b="1">
                <a:solidFill>
                  <a:srgbClr val="141B2D"/>
                </a:solidFill>
                <a:latin typeface="Aptos"/>
              </a:rPr>
              <a:t>SCALABILITY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32832"/>
                </a:solidFill>
                <a:latin typeface="Aptos"/>
              </a:rPr>
              <a:t>Future extensions: larger datasets, real-time updates, advanced ML integration, mobile application and cloud deployment.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566160"/>
            <a:ext cx="73152" cy="1828800"/>
          </a:xfrm>
          <a:prstGeom prst="rect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1B2D"/>
                </a:solidFill>
                <a:latin typeface="Aptos Display"/>
              </a:rPr>
              <a:t>Conclusion &amp; Review 4 Demo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97382"/>
                </a:solidFill>
                <a:latin typeface="Aptos"/>
              </a:rPr>
              <a:t>Efficient • Personalized • Fast • Scalable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7382"/>
                </a:solidFill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/>
            <a:r>
              <a:rPr sz="1500" b="1">
                <a:solidFill>
                  <a:srgbClr val="141B2D"/>
                </a:solidFill>
                <a:latin typeface="Aptos"/>
              </a:rPr>
              <a:t>KEY TAKEAWAY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232832"/>
                </a:solidFill>
                <a:latin typeface="Aptos"/>
              </a:rPr>
              <a:t>The project integrates common DSA techniques into one recommendation pipeline. Search matching, fast lookup, candidate selection, concurrent processing and ranking work together to produce personalized movie and product recommendations.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73152" cy="1828800"/>
          </a:xfrm>
          <a:prstGeom prst="rect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132588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/>
            <a:r>
              <a:rPr sz="1500" b="1">
                <a:solidFill>
                  <a:srgbClr val="141B2D"/>
                </a:solidFill>
                <a:latin typeface="Aptos"/>
              </a:rPr>
              <a:t>LIVE DEMO SEQUENCE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232832"/>
                </a:solidFill>
                <a:latin typeface="Aptos"/>
              </a:rPr>
              <a:t>1. Enter a misspelled query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232832"/>
                </a:solidFill>
                <a:latin typeface="Aptos"/>
              </a:rPr>
              <a:t>2. Show Edit Distance correction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232832"/>
                </a:solidFill>
                <a:latin typeface="Aptos"/>
              </a:rPr>
              <a:t>3. Generate candidates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232832"/>
                </a:solidFill>
                <a:latin typeface="Aptos"/>
              </a:rPr>
              <a:t>4. Show recommendation scores</a:t>
            </a:r>
          </a:p>
          <a:p>
            <a:pPr>
              <a:spcBef>
                <a:spcPts val="500"/>
              </a:spcBef>
            </a:pPr>
            <a:r>
              <a:rPr sz="1250">
                <a:solidFill>
                  <a:srgbClr val="232832"/>
                </a:solidFill>
                <a:latin typeface="Aptos"/>
              </a:rPr>
              <a:t>5. Display ranked movie/product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325880"/>
            <a:ext cx="73152" cy="1828800"/>
          </a:xfrm>
          <a:prstGeom prst="rect">
            <a:avLst/>
          </a:prstGeom>
          <a:solidFill>
            <a:srgbClr val="27B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3566160"/>
            <a:ext cx="53035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/>
            <a:r>
              <a:rPr sz="1500" b="1">
                <a:solidFill>
                  <a:srgbClr val="141B2D"/>
                </a:solidFill>
                <a:latin typeface="Aptos"/>
              </a:rPr>
              <a:t>WHAT TO SHOW FOR MARKS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832"/>
                </a:solidFill>
                <a:latin typeface="Aptos"/>
              </a:rPr>
              <a:t>Technical competence → Java algorithm execution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832"/>
                </a:solidFill>
                <a:latin typeface="Aptos"/>
              </a:rPr>
              <a:t>Accuracy → correct search + relevant ranking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832"/>
                </a:solidFill>
                <a:latin typeface="Aptos"/>
              </a:rPr>
              <a:t>Innovation → integrated DSA pipeline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832"/>
                </a:solidFill>
                <a:latin typeface="Aptos"/>
              </a:rPr>
              <a:t>Utility → faster personalized discovery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566160"/>
            <a:ext cx="73152" cy="1600200"/>
          </a:xfrm>
          <a:prstGeom prst="rect">
            <a:avLst/>
          </a:prstGeom>
          <a:solidFill>
            <a:srgbClr val="2D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3566160"/>
            <a:ext cx="53035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/>
            <a:r>
              <a:rPr sz="1500" b="1">
                <a:solidFill>
                  <a:srgbClr val="141B2D"/>
                </a:solidFill>
                <a:latin typeface="Aptos"/>
              </a:rPr>
              <a:t>FUTURE SCOPE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32832"/>
                </a:solidFill>
                <a:latin typeface="Aptos"/>
              </a:rPr>
              <a:t>Larger datasets • real-time updates • advanced ML • mobile app • cloud deployment • stronger personalization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566160"/>
            <a:ext cx="73152" cy="1600200"/>
          </a:xfrm>
          <a:prstGeom prst="rect">
            <a:avLst/>
          </a:prstGeom>
          <a:solidFill>
            <a:srgbClr val="E6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8978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41B2D"/>
                </a:solidFill>
              </a:rPr>
              <a:t>MOVIE &amp; PRODUCT RECOMMENDATION ENGINE  |  REVIEW –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